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/FamilyAgent/Nox/workspace/sikepo-app/proposal/assets/cover-mach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502920"/>
            <a:ext cx="5074920" cy="3977640"/>
          </a:xfrm>
          <a:prstGeom prst="rect">
            <a:avLst/>
          </a:prstGeom>
        </p:spPr>
      </p:pic>
      <p:pic>
        <p:nvPicPr>
          <p:cNvPr id="3" name="Image 1" descr="D:/FamilyAgent/Nox/workspace/sikepo-app/frontend/img/sikepo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02920"/>
            <a:ext cx="566928" cy="457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43000" y="47548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SiKePo</a:t>
            </a:r>
            <a:endParaRPr lang="en-US" sz="3000" dirty="0"/>
          </a:p>
        </p:txBody>
      </p:sp>
      <p:sp>
        <p:nvSpPr>
          <p:cNvPr id="5" name="Text 1"/>
          <p:cNvSpPr/>
          <p:nvPr/>
        </p:nvSpPr>
        <p:spPr>
          <a:xfrm>
            <a:off x="457200" y="21488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2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Sistem Investigasi Kelayakan Klaim &amp; Pola Overbilling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457200" y="2487168"/>
            <a:ext cx="6583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Deteksi klaim fraud
</a:t>
            </a:r>
            <a:r>
              <a:rPr lang="en-US" sz="4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sebelum </a:t>
            </a:r>
            <a:r>
              <a:rPr lang="en-US" sz="4400" b="1" dirty="0">
                <a:solidFill>
                  <a:srgbClr val="35D08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dana cair.</a:t>
            </a:r>
            <a:endParaRPr lang="en-US" sz="4400" dirty="0"/>
          </a:p>
        </p:txBody>
      </p:sp>
      <p:sp>
        <p:nvSpPr>
          <p:cNvPr id="7" name="Text 3"/>
          <p:cNvSpPr/>
          <p:nvPr/>
        </p:nvSpPr>
        <p:spPr>
          <a:xfrm>
            <a:off x="457200" y="4315968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AAB9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audit A1 Triage, A2 Investigator, dan A3 Adjudicator bertumpu pada LLM medis Ling 3.0 Flash Sante. Skor risiko 0-100 dengan bukti terbaca, keputusan akhir tetap milik verifikator.</a:t>
            </a:r>
            <a:endParaRPr lang="en-US" sz="1350" dirty="0"/>
          </a:p>
        </p:txBody>
      </p:sp>
      <p:sp>
        <p:nvSpPr>
          <p:cNvPr id="8" name="Shape 4"/>
          <p:cNvSpPr/>
          <p:nvPr/>
        </p:nvSpPr>
        <p:spPr>
          <a:xfrm>
            <a:off x="457200" y="5532120"/>
            <a:ext cx="5852160" cy="0"/>
          </a:xfrm>
          <a:prstGeom prst="line">
            <a:avLst/>
          </a:prstGeom>
          <a:noFill/>
          <a:ln w="12700">
            <a:solidFill>
              <a:srgbClr val="24406B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57200" y="568756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Coba Namanya Ini</a:t>
            </a:r>
            <a:r>
              <a:rPr lang="en-US" sz="1300" dirty="0">
                <a:solidFill>
                  <a:srgbClr val="AAB9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Decka Fadhila Tirta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0167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8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Healthkathon BPJS Kesehatan 2026 · Efisiensi Risiko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6949440" y="6172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35D08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Detect Smarter. Protect JKN.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9B4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KATEGORI &amp; SUB-KATEGORI YANG DIIKUTI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5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Efisiensi Risiko Fasilitas Kesehatan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11274552" cy="841248"/>
          </a:xfrm>
          <a:prstGeom prst="roundRect">
            <a:avLst>
              <a:gd name="adj" fmla="val 9783"/>
            </a:avLst>
          </a:prstGeom>
          <a:solidFill>
            <a:srgbClr val="E9F7E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481328"/>
            <a:ext cx="10698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76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Kategori: </a:t>
            </a:r>
            <a:r>
              <a:rPr lang="en-US" sz="1400" b="1" dirty="0">
                <a:solidFill>
                  <a:srgbClr val="0676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Efisiensi Risiko Fasilitas Kesehatan</a:t>
            </a:r>
            <a:r>
              <a:rPr lang="en-US" sz="14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Fokus SiKePo: klaim rawat inap FKRTL yang dinilai sebelum dana cair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Empat sub-kategori fokus, semuanya dideteksi otomatis oleh SiKePo: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3035808"/>
            <a:ext cx="5504688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EC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B1526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3232" y="318211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5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Upcoding &amp; Unbundling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13232" y="349300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Diagnosa digelembungkan agar tarif masuk kelas INA-CBG yang lebih mahal, atau paket dipecah.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13232" y="40690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9B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24 kasus pada dataset 150 klaim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27064" y="3035808"/>
            <a:ext cx="5504688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EC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B1526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83096" y="318211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5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Phantom &amp; Repeat Billing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83096" y="349300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Penagihan atas layanan yang tidak pernah diberikan atau episode yang diklaim ulang.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83096" y="40690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9B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 kasus · fingerprint rawat absen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608576"/>
            <a:ext cx="5504688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EC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B1526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13232" y="4754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5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Inflated Bills &amp; Cloning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13232" y="5065776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Obat di luar formularium dengan harga tinggi; resume medis dijiplak antar pasien.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13232" y="564184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9B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19 kasus · kemiripan resume tinggi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27064" y="4608576"/>
            <a:ext cx="5504688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EC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B1526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83096" y="4754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5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Prolonged Stay &amp; Readmisi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83096" y="5065776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Hari rawat diperpanjang di luar indikasi medis atau episode diklaim berulang.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83096" y="564184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9B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LOS vs norma klinis dipantau per klaim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626364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291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Kasus = sebaran modus pada dataset 150 klaim yang dipakai membangun dan menguji SiKePo.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291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SiKePo · Healthkathon BPJS Kesehatan 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91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9B4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BAGIAN 1 · IDENTITAS &amp; POSITIONING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5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Asisten verifikator yang membaca semua berkas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72768"/>
            <a:ext cx="6766560" cy="2286000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83080"/>
            <a:ext cx="6126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spc="200" kern="0" dirty="0">
                <a:solidFill>
                  <a:srgbClr val="009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Satu kalimat nilai
</a:t>
            </a:r>
            <a:r>
              <a:rPr lang="en-US" sz="1700" dirty="0">
                <a:solidFill>
                  <a:srgbClr val="0B15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SiKePo membaca setiap berkas klaim dalam hitungan detik, memberi skor risiko 0-100 beserta bukti yang bisa dibaca, lalu menyerahkan keputusan akhir kepada verifikator.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160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5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Posisi kami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4480560"/>
            <a:ext cx="6675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Bukan alat laporan sesudah kejadian: audit berjalan di dalam alur klaim, sebelum dana cair.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Bukan kotak hitam: setiap skor disertai alasan deterministik, bukti ML, dan rekomendasi berbahasa Indonesia.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Bukan pengganti manusia: AI memberi rekomendasi, verifikator yang memutuskan.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35240" y="1572768"/>
            <a:ext cx="4096512" cy="4462272"/>
          </a:xfrm>
          <a:prstGeom prst="roundRect">
            <a:avLst>
              <a:gd name="adj" fmla="val 2679"/>
            </a:avLst>
          </a:prstGeom>
          <a:solidFill>
            <a:srgbClr val="0B1526"/>
          </a:solidFill>
          <a:ln/>
        </p:spPr>
      </p:sp>
      <p:sp>
        <p:nvSpPr>
          <p:cNvPr id="9" name="Text 7"/>
          <p:cNvSpPr/>
          <p:nvPr/>
        </p:nvSpPr>
        <p:spPr>
          <a:xfrm>
            <a:off x="7955280" y="18288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5D0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955280" y="21031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Coba Namanya Ini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955280" y="257860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9DB2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Namanya konyol, kerjaannya serius.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5280" y="3310128"/>
            <a:ext cx="3429000" cy="0"/>
          </a:xfrm>
          <a:prstGeom prst="line">
            <a:avLst/>
          </a:prstGeom>
          <a:noFill/>
          <a:ln w="12700">
            <a:solidFill>
              <a:srgbClr val="2440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0" y="34747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Decka Fadhila Tirta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955280" y="3785616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150" dirty="0">
                <a:solidFill>
                  <a:srgbClr val="AAB9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 Engineer &amp; Product</a:t>
            </a:r>
            <a:endParaRPr lang="en-US" sz="11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150" dirty="0">
                <a:solidFill>
                  <a:srgbClr val="AAB9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S.Si. Fisika, Universitas Negeri Yogyakarta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955280" y="44348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AAB9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Full-stack aplikasi (Python + web)
</a:t>
            </a:r>
            <a:r>
              <a:rPr lang="en-US" sz="1150" dirty="0">
                <a:solidFill>
                  <a:srgbClr val="AAB9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AI &amp; integrasi LLM
</a:t>
            </a:r>
            <a:r>
              <a:rPr lang="en-US" sz="1150" dirty="0">
                <a:solidFill>
                  <a:srgbClr val="AAB9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Desain UI/UX &amp; konten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55280" y="5440680"/>
            <a:ext cx="3429000" cy="0"/>
          </a:xfrm>
          <a:prstGeom prst="line">
            <a:avLst/>
          </a:prstGeom>
          <a:noFill/>
          <a:ln w="12700">
            <a:solidFill>
              <a:srgbClr val="2440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0" y="555955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48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orang, peran menyeluruh: konsep, bangun, uji, dan rancang skala.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291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SiKePo · Healthkathon BPJS Kesehatan 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91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9B4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BAGIAN 2 · MASALAH &amp; URGENSI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5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Klaim fraudulent bocor setelah dana cair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72768"/>
            <a:ext cx="3602736" cy="1883664"/>
          </a:xfrm>
          <a:prstGeom prst="roundRect">
            <a:avLst>
              <a:gd name="adj" fmla="val 4854"/>
            </a:avLst>
          </a:prstGeom>
          <a:solidFill>
            <a:srgbClr val="0B1526"/>
          </a:solidFill>
          <a:ln w="12700">
            <a:solidFill>
              <a:srgbClr val="EC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B1526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773936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Rp 2,6 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487168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AAB9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kerugian akibat klaim fraudulent yang ditemukan BPJS Kesehatan sepanjang 2023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3145536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8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Publikasi media nasional, awal 2024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279392" y="1572768"/>
            <a:ext cx="3602736" cy="1883664"/>
          </a:xfrm>
          <a:prstGeom prst="roundRect">
            <a:avLst>
              <a:gd name="adj" fmla="val 4854"/>
            </a:avLst>
          </a:prstGeom>
          <a:solidFill>
            <a:srgbClr val="FFFFFF"/>
          </a:solidFill>
          <a:ln w="12700">
            <a:solidFill>
              <a:srgbClr val="EC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B1526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53712" y="1773936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25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Rp 12,63 T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553712" y="2487168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estimasi potensi kebocoran dana JKN per tahun akibat fraudulent claims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53712" y="3145536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291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BPJS Watch, 2019 (estimasi)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101584" y="1572768"/>
            <a:ext cx="3602736" cy="1883664"/>
          </a:xfrm>
          <a:prstGeom prst="roundRect">
            <a:avLst>
              <a:gd name="adj" fmla="val 4854"/>
            </a:avLst>
          </a:prstGeom>
          <a:solidFill>
            <a:srgbClr val="FFFFFF"/>
          </a:solidFill>
          <a:ln w="12700">
            <a:solidFill>
              <a:srgbClr val="EC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B1526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75904" y="1773936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25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Ratusan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375904" y="2487168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berkas klaim yang harus ditinjau tiap verifikator setiap hari, secara manual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75904" y="3145536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291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Wawancara proses kerja verifikasi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3794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5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Yang membuatnya urgen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4114800"/>
            <a:ext cx="6766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3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Pemeriksaan manual hanya mampu sampling: mayoritas berkas cair tanpa dibaca menyeluruh.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3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Pola fraud terus berganti (upcoding, phantom, cloning), pemeriksa manual sulit mengikuti konsisten.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3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Dana yang bocor adalah iuran peserta JKN; integritas program bergantung pada kecepatan deteksi.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635240" y="3794760"/>
            <a:ext cx="4096512" cy="2084832"/>
          </a:xfrm>
          <a:prstGeom prst="roundRect">
            <a:avLst>
              <a:gd name="adj" fmla="val 4386"/>
            </a:avLst>
          </a:prstGeom>
          <a:solidFill>
            <a:srgbClr val="FDECEA"/>
          </a:solidFill>
          <a:ln/>
        </p:spPr>
      </p:sp>
      <p:sp>
        <p:nvSpPr>
          <p:cNvPr id="19" name="Text 17"/>
          <p:cNvSpPr/>
          <p:nvPr/>
        </p:nvSpPr>
        <p:spPr>
          <a:xfrm>
            <a:off x="7909560" y="40050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4231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Konsekuensi bila dibiarkan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909560" y="4315968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B423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Klaim tidak layak terbayar lebih dulu daripada yang layak
</a:t>
            </a:r>
            <a:endParaRPr lang="en-US" sz="1200" dirty="0"/>
          </a:p>
          <a:p>
            <a:pPr indent="0" marL="0">
              <a:lnSpc>
                <a:spcPct val="14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B423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Salah tuduh kepada faskes jujur karena pemeriksaan tidak berbasis bukti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053328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291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Sumber: publikasi media nasional atas keterangan BPJS Kesehatan dan BPJS Watch; angka bersifat temuan/estimasi, digunakan sebagai konteks urgensi.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291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SiKePo · Healthkathon BPJS Kesehatan 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91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9B4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BAGIAN 3 · SOLUSI &amp; KEUNGGULAN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5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Satu alur: masuk, dinilai mesin, diputuskan manusia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2084832" cy="1572768"/>
          </a:xfrm>
          <a:prstGeom prst="roundRect">
            <a:avLst>
              <a:gd name="adj" fmla="val 5233"/>
            </a:avLst>
          </a:prstGeom>
          <a:solidFill>
            <a:srgbClr val="F6F8FA"/>
          </a:solidFill>
          <a:ln w="12700">
            <a:solidFill>
              <a:srgbClr val="EC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B1526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84708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4A55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INPUT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03504" y="20848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0B15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SIMRS / Portal Faskes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03504" y="26060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klaim masuk otomatis via API berkunci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23744" y="22860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291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70632" y="1691640"/>
            <a:ext cx="2084832" cy="1572768"/>
          </a:xfrm>
          <a:prstGeom prst="roundRect">
            <a:avLst>
              <a:gd name="adj" fmla="val 5233"/>
            </a:avLst>
          </a:prstGeom>
          <a:solidFill>
            <a:srgbClr val="E4F6FB"/>
          </a:solidFill>
          <a:ln w="12700">
            <a:solidFill>
              <a:srgbClr val="EC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B1526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916936" y="184708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284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916936" y="20848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0B15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Triage Aturan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916936" y="26060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rasio tarif, LOS vs norma, obat e-Fornas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37176" y="22860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291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84064" y="1691640"/>
            <a:ext cx="2084832" cy="1572768"/>
          </a:xfrm>
          <a:prstGeom prst="roundRect">
            <a:avLst>
              <a:gd name="adj" fmla="val 5233"/>
            </a:avLst>
          </a:prstGeom>
          <a:solidFill>
            <a:srgbClr val="FCF1E4"/>
          </a:solidFill>
          <a:ln w="12700">
            <a:solidFill>
              <a:srgbClr val="EC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B1526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230368" y="184708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5470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A2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230368" y="20848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0B15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Investigator ML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230368" y="26060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IsolationForest, fusi 45% aturan + 55% ML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150608" y="22860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291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397496" y="1691640"/>
            <a:ext cx="2084832" cy="1572768"/>
          </a:xfrm>
          <a:prstGeom prst="roundRect">
            <a:avLst>
              <a:gd name="adj" fmla="val 5233"/>
            </a:avLst>
          </a:prstGeom>
          <a:solidFill>
            <a:srgbClr val="E9F7EF"/>
          </a:solidFill>
          <a:ln w="12700">
            <a:solidFill>
              <a:srgbClr val="EC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B1526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543800" y="184708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07C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A3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543800" y="20848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0B15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Adjudicator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543800" y="26060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Ling 3.0 Flash Sante, alasan berbahasa Indonesia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464040" y="22860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291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710928" y="1691640"/>
            <a:ext cx="2084832" cy="1572768"/>
          </a:xfrm>
          <a:prstGeom prst="roundRect">
            <a:avLst>
              <a:gd name="adj" fmla="val 5233"/>
            </a:avLst>
          </a:prstGeom>
          <a:solidFill>
            <a:srgbClr val="E9F0FB"/>
          </a:solidFill>
          <a:ln w="12700">
            <a:solidFill>
              <a:srgbClr val="EC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B1526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857232" y="184708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75CD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MANUSIA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857232" y="20848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0B15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Verifikator BPJS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857232" y="26060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Setujui / Tahan / Tolak dengan bukti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703320"/>
            <a:ext cx="3602736" cy="566928"/>
          </a:xfrm>
          <a:prstGeom prst="roundRect">
            <a:avLst>
              <a:gd name="adj" fmla="val 14516"/>
            </a:avLst>
          </a:prstGeom>
          <a:solidFill>
            <a:srgbClr val="E9F7EF"/>
          </a:solidFill>
          <a:ln/>
        </p:spPr>
      </p:sp>
      <p:sp>
        <p:nvSpPr>
          <p:cNvPr id="29" name="Text 27"/>
          <p:cNvSpPr/>
          <p:nvPr/>
        </p:nvSpPr>
        <p:spPr>
          <a:xfrm>
            <a:off x="676656" y="370332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76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SIAP BAYAR   </a:t>
            </a:r>
            <a:r>
              <a:rPr lang="en-US" sz="1200" dirty="0">
                <a:solidFill>
                  <a:srgbClr val="0676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risiko rendah, cair lebih cepat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279392" y="3703320"/>
            <a:ext cx="3602736" cy="566928"/>
          </a:xfrm>
          <a:prstGeom prst="roundRect">
            <a:avLst>
              <a:gd name="adj" fmla="val 14516"/>
            </a:avLst>
          </a:prstGeom>
          <a:solidFill>
            <a:srgbClr val="FCF1E4"/>
          </a:solidFill>
          <a:ln/>
        </p:spPr>
      </p:sp>
      <p:sp>
        <p:nvSpPr>
          <p:cNvPr id="31" name="Text 29"/>
          <p:cNvSpPr/>
          <p:nvPr/>
        </p:nvSpPr>
        <p:spPr>
          <a:xfrm>
            <a:off x="4498848" y="370332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5470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TAHAN / AUDIT RM   </a:t>
            </a:r>
            <a:r>
              <a:rPr lang="en-US" sz="1200" dirty="0">
                <a:solidFill>
                  <a:srgbClr val="B5470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bukti lengkap untuk verifikator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101584" y="3703320"/>
            <a:ext cx="3602736" cy="566928"/>
          </a:xfrm>
          <a:prstGeom prst="roundRect">
            <a:avLst>
              <a:gd name="adj" fmla="val 14516"/>
            </a:avLst>
          </a:prstGeom>
          <a:solidFill>
            <a:srgbClr val="FDECEA"/>
          </a:solidFill>
          <a:ln/>
        </p:spPr>
      </p:sp>
      <p:sp>
        <p:nvSpPr>
          <p:cNvPr id="33" name="Text 31"/>
          <p:cNvSpPr/>
          <p:nvPr/>
        </p:nvSpPr>
        <p:spPr>
          <a:xfrm>
            <a:off x="8321040" y="370332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2D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TOLAK + ESKALASI   </a:t>
            </a:r>
            <a:r>
              <a:rPr lang="en-US" sz="1200" dirty="0">
                <a:solidFill>
                  <a:srgbClr val="D92D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diteruskan ke Satgas Anti-Fraud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4617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5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Tiga keunggulan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457200" y="49560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5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menyeluruh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57200" y="523036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setiap klaim dibaca, bukan sampling; fraud tak lagi lolos karena keumpetan keberuntungan.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279392" y="49560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5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tepat guna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4279392" y="523036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rules + ML cepat dan auditable; LLM medis Ling 3.0 Flash Sante hanya untuk adjudikasi, dengan fallback aturan.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8101584" y="49560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5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Siap alur kerja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8101584" y="523036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verdict satu klik, keyboard-first, sinkron otomatis dari portal faskes; jejak audit terekam per keputusan.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457200" y="651052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291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SiKePo · Healthkathon BPJS Kesehatan 2026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274552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91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9B4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BAGIAN 3 · TAMPILAN PRODUK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5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Antrean klaim: risiko terlihat, bukti satu klik</a:t>
            </a:r>
            <a:endParaRPr lang="en-US" sz="3000" dirty="0"/>
          </a:p>
        </p:txBody>
      </p:sp>
      <p:pic>
        <p:nvPicPr>
          <p:cNvPr id="4" name="Image 0" descr="D:/FamilyAgent/Nox/workspace/sikepo-app/proposal/assets/shot-claims.png">    </p:cNvPr>
          <p:cNvPicPr>
            <a:picLocks noChangeAspect="1"/>
          </p:cNvPicPr>
          <p:nvPr/>
        </p:nvPicPr>
        <p:blipFill>
          <a:blip r:embed="rId1"/>
          <a:srcRect l="0" r="0" t="5193" b="5193"/>
          <a:stretch/>
        </p:blipFill>
        <p:spPr>
          <a:xfrm>
            <a:off x="457200" y="1517904"/>
            <a:ext cx="7863840" cy="4892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613648" y="1517904"/>
            <a:ext cx="3118104" cy="4892040"/>
          </a:xfrm>
          <a:prstGeom prst="roundRect">
            <a:avLst>
              <a:gd name="adj" fmla="val 2933"/>
            </a:avLst>
          </a:prstGeom>
          <a:solidFill>
            <a:srgbClr val="F6F8FA"/>
          </a:solidFill>
          <a:ln/>
        </p:spPr>
      </p:sp>
      <p:sp>
        <p:nvSpPr>
          <p:cNvPr id="6" name="Text 3"/>
          <p:cNvSpPr/>
          <p:nvPr/>
        </p:nvSpPr>
        <p:spPr>
          <a:xfrm>
            <a:off x="8887968" y="177393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5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Di layar ini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887968" y="2121408"/>
            <a:ext cx="2615184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38000"/>
              </a:lnSpc>
              <a:spcAft>
                <a:spcPts val="1000"/>
              </a:spcAft>
              <a:buSzPct val="100000"/>
              <a:buChar char="▸"/>
            </a:pPr>
            <a:r>
              <a:rPr lang="en-US" sz="11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150 klaim terurut risiko; badge hijau, kuning, merah mengikuti skor 0-100</a:t>
            </a:r>
            <a:endParaRPr lang="en-US" sz="1150" dirty="0"/>
          </a:p>
          <a:p>
            <a:pPr marL="152400" indent="-152400">
              <a:lnSpc>
                <a:spcPct val="138000"/>
              </a:lnSpc>
              <a:spcAft>
                <a:spcPts val="1000"/>
              </a:spcAft>
              <a:buSzPct val="100000"/>
              <a:buChar char="▸"/>
            </a:pPr>
            <a:r>
              <a:rPr lang="en-US" sz="11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Filter status, modus, faskes, rentang risiko, dan pencarian SEP sampai ICD-10</a:t>
            </a:r>
            <a:endParaRPr lang="en-US" sz="1150" dirty="0"/>
          </a:p>
          <a:p>
            <a:pPr marL="152400" indent="-152400">
              <a:lnSpc>
                <a:spcPct val="138000"/>
              </a:lnSpc>
              <a:spcAft>
                <a:spcPts val="1000"/>
              </a:spcAft>
              <a:buSzPct val="100000"/>
              <a:buChar char="▸"/>
            </a:pPr>
            <a:r>
              <a:rPr lang="en-US" sz="11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Klik baris: inspector berisi bukti per tahap A1-A3, obat restriksi, dan selisih biaya</a:t>
            </a:r>
            <a:endParaRPr lang="en-US" sz="1150" dirty="0"/>
          </a:p>
          <a:p>
            <a:pPr marL="152400" indent="-152400">
              <a:lnSpc>
                <a:spcPct val="138000"/>
              </a:lnSpc>
              <a:spcAft>
                <a:spcPts val="1000"/>
              </a:spcAft>
              <a:buSzPct val="100000"/>
              <a:buChar char="▸"/>
            </a:pPr>
            <a:r>
              <a:rPr lang="en-US" sz="11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Verdict satu klik (Setujui / Tahan / Tolak) tersimpan dengan jejak audit</a:t>
            </a:r>
            <a:endParaRPr lang="en-US" sz="1150" dirty="0"/>
          </a:p>
          <a:p>
            <a:pPr marL="152400" indent="-152400">
              <a:lnSpc>
                <a:spcPct val="138000"/>
              </a:lnSpc>
              <a:spcAft>
                <a:spcPts val="1000"/>
              </a:spcAft>
              <a:buSzPct val="100000"/>
              <a:buChar char="▸"/>
            </a:pPr>
            <a:r>
              <a:rPr lang="en-US" sz="11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Navigasi keyboard j/k, Enter, a/h/r untuk kerja cepat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57200" y="651052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291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SiKePo · Healthkathon BPJS Kesehatan 2026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91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9B4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BAGIAN 3 · TAMPILAN PRODUK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5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Dashboard, sandbox, dan kanal faskes</a:t>
            </a:r>
            <a:endParaRPr lang="en-US" sz="3000" dirty="0"/>
          </a:p>
        </p:txBody>
      </p:sp>
      <p:pic>
        <p:nvPicPr>
          <p:cNvPr id="4" name="Image 0" descr="D:/FamilyAgent/Nox/workspace/sikepo-app/proposal/assets/shot-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554480"/>
            <a:ext cx="3602736" cy="25054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169664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5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4462272"/>
            <a:ext cx="36027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KPI live, tren status, distribusi risiko, rata-rata per faskes, simulator intake SIMRS.</a:t>
            </a:r>
            <a:endParaRPr lang="en-US" sz="1150" dirty="0"/>
          </a:p>
        </p:txBody>
      </p:sp>
      <p:pic>
        <p:nvPicPr>
          <p:cNvPr id="7" name="Image 1" descr="D:/FamilyAgent/Nox/workspace/sikepo-app/proposal/assets/shot-sandbox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79392" y="1554480"/>
            <a:ext cx="3602736" cy="25054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279392" y="4169664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5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Sandbox audit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4279392" y="4462272"/>
            <a:ext cx="36027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Uji klaim hipotesis tanpa menyentuh data: hasil skor, alasan, dan jejak A1-A3.</a:t>
            </a:r>
            <a:endParaRPr lang="en-US" sz="1150" dirty="0"/>
          </a:p>
        </p:txBody>
      </p:sp>
      <p:pic>
        <p:nvPicPr>
          <p:cNvPr id="10" name="Image 2" descr="D:/FamilyAgent/Nox/workspace/sikepo-app/proposal/assets/shot-faskes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01584" y="1554480"/>
            <a:ext cx="3602736" cy="25054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101584" y="4169664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5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Portal Faskes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8101584" y="4462272"/>
            <a:ext cx="36027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Faskes mengirim klaim ber-kunci API; hasil audit tampil seketika dan masuk antrean.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457200" y="5486400"/>
            <a:ext cx="11274552" cy="658368"/>
          </a:xfrm>
          <a:prstGeom prst="roundRect">
            <a:avLst>
              <a:gd name="adj" fmla="val 12500"/>
            </a:avLst>
          </a:prstGeom>
          <a:solidFill>
            <a:srgbClr val="E9F7EF"/>
          </a:solidFill>
          <a:ln/>
        </p:spPr>
      </p:sp>
      <p:sp>
        <p:nvSpPr>
          <p:cNvPr id="14" name="Text 9"/>
          <p:cNvSpPr/>
          <p:nvPr/>
        </p:nvSpPr>
        <p:spPr>
          <a:xfrm>
            <a:off x="777240" y="5486400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76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Sinkron otomatis: </a:t>
            </a:r>
            <a:r>
              <a:rPr lang="en-US" sz="12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klaim yang dikirim faskes muncul sendiri di antrean Cockpit dalam hitungan detik, disertai notifikasi, tanpa reload.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457200" y="651052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291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SiKePo · Healthkathon BPJS Kesehatan 2026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11274552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91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9B4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BAGIAN 4 · PENDEKATAN TEKNIS &amp; DATA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5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Dari input SIMRS sampai keputusan verifikator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1274552" cy="1243584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ECEE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938528"/>
            <a:ext cx="475488" cy="475488"/>
          </a:xfrm>
          <a:prstGeom prst="ellipse">
            <a:avLst/>
          </a:prstGeom>
          <a:solidFill>
            <a:srgbClr val="175CD3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9385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81328" y="175564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0B15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 · INPUT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480560" y="17373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klaim rawat inap: SEP, ICD-10, tarif INA-CBG, biaya, LOS, farmasi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555480" y="17373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8291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Sumber: SIMRS faskes (API berkunci), Portal Faskes, dataset uji 150 klaim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852160" y="27249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291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971800"/>
            <a:ext cx="11274552" cy="1243584"/>
          </a:xfrm>
          <a:prstGeom prst="roundRect">
            <a:avLst>
              <a:gd name="adj" fmla="val 7353"/>
            </a:avLst>
          </a:prstGeom>
          <a:solidFill>
            <a:srgbClr val="F6F8FA"/>
          </a:solidFill>
          <a:ln w="12700">
            <a:solidFill>
              <a:srgbClr val="ECEE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3355848"/>
            <a:ext cx="475488" cy="475488"/>
          </a:xfrm>
          <a:prstGeom prst="ellipse">
            <a:avLst/>
          </a:prstGeom>
          <a:solidFill>
            <a:srgbClr val="B54708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3355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81328" y="317296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0B15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 · AUDIT PIPELINE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480560" y="31546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A1 rules (risiko awal 0-99) → A2 IsolationForest (fusi 45:55) → A3 LLM medis + fallback aturan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555480" y="31546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8291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Setiap tahap menghasilkan bukti yang disimpan per klaim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852160" y="41422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291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4389120"/>
            <a:ext cx="11274552" cy="1243584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ECEE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" y="4773168"/>
            <a:ext cx="475488" cy="475488"/>
          </a:xfrm>
          <a:prstGeom prst="ellipse">
            <a:avLst/>
          </a:prstGeom>
          <a:solidFill>
            <a:srgbClr val="009B4C"/>
          </a:solidFill>
          <a:ln/>
        </p:spPr>
      </p:sp>
      <p:sp>
        <p:nvSpPr>
          <p:cNvPr id="20" name="Text 18"/>
          <p:cNvSpPr/>
          <p:nvPr/>
        </p:nvSpPr>
        <p:spPr>
          <a:xfrm>
            <a:off x="749808" y="47731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81328" y="459028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0B15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 · KEPUTUSAN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480560" y="45720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Rekomendasi status + antrean Cockpit + verdict verifikator dengan jejak audit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555480" y="45720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8291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Label verdict menjadi data latih retrain berkala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5870448"/>
            <a:ext cx="11274552" cy="566928"/>
          </a:xfrm>
          <a:prstGeom prst="roundRect">
            <a:avLst>
              <a:gd name="adj" fmla="val 14516"/>
            </a:avLst>
          </a:prstGeom>
          <a:solidFill>
            <a:srgbClr val="F6F8FA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587044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5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Keamanan sejak desain:  </a:t>
            </a:r>
            <a:r>
              <a:rPr lang="en-US" sz="11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kunci API per faskes · password PBKDF2 · RBAC 4 peran · rate limit · jejak audit immutable · data uji bersifat sintetis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651052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291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SiKePo · Healthkathon BPJS Kesehatan 2026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91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9B4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BAGIAN 5 · TINGKAT KEMATANGAN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5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Prototype berfungsi penuh, teruji end-to-end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2084832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CEE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00200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291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Ide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542032" y="1700784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291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70632" y="1600200"/>
            <a:ext cx="2084832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CEE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70632" y="1600200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291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Mockup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55464" y="1700784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291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84064" y="1600200"/>
            <a:ext cx="2084832" cy="566928"/>
          </a:xfrm>
          <a:prstGeom prst="roundRect">
            <a:avLst>
              <a:gd name="adj" fmla="val 14516"/>
            </a:avLst>
          </a:prstGeom>
          <a:solidFill>
            <a:srgbClr val="009B4C"/>
          </a:solidFill>
          <a:ln w="12700">
            <a:solidFill>
              <a:srgbClr val="009B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84064" y="1600200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Prototype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68896" y="1700784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291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97496" y="1600200"/>
            <a:ext cx="2084832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CEE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97496" y="1600200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291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MVP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482328" y="1700784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291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710928" y="1600200"/>
            <a:ext cx="2084832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CEE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10928" y="1600200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291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Produk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239572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Posisi saat ini: Prototype fitur lengkap, dengan jalur jelas menuju MVP lewat pilot shadow di satu KC.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2871216"/>
            <a:ext cx="3602736" cy="3127248"/>
          </a:xfrm>
          <a:prstGeom prst="roundRect">
            <a:avLst>
              <a:gd name="adj" fmla="val 2924"/>
            </a:avLst>
          </a:prstGeom>
          <a:solidFill>
            <a:srgbClr val="FFFFFF"/>
          </a:solidFill>
          <a:ln w="12700">
            <a:solidFill>
              <a:srgbClr val="C9E9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307238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5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Yang sudah berjalan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94944" y="3401568"/>
            <a:ext cx="31546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35000"/>
              </a:lnSpc>
              <a:spcAft>
                <a:spcPts val="700"/>
              </a:spcAft>
              <a:buSzPct val="100000"/>
              <a:buChar char="▸"/>
            </a:pPr>
            <a:r>
              <a:rPr lang="en-US" sz="11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Antrean + inspector + verdict ber-kunci dan ber-jejak audit</a:t>
            </a:r>
            <a:endParaRPr lang="en-US" sz="1100" dirty="0"/>
          </a:p>
          <a:p>
            <a:pPr marL="152400" indent="-152400">
              <a:lnSpc>
                <a:spcPct val="135000"/>
              </a:lnSpc>
              <a:spcAft>
                <a:spcPts val="700"/>
              </a:spcAft>
              <a:buSzPct val="100000"/>
              <a:buChar char="▸"/>
            </a:pPr>
            <a:r>
              <a:rPr lang="en-US" sz="11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A1-A3 dengan fallback deterministik</a:t>
            </a:r>
            <a:endParaRPr lang="en-US" sz="1100" dirty="0"/>
          </a:p>
          <a:p>
            <a:pPr marL="152400" indent="-152400">
              <a:lnSpc>
                <a:spcPct val="135000"/>
              </a:lnSpc>
              <a:spcAft>
                <a:spcPts val="700"/>
              </a:spcAft>
              <a:buSzPct val="100000"/>
              <a:buChar char="▸"/>
            </a:pPr>
            <a:r>
              <a:rPr lang="en-US" sz="11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Portal faskes + sinkron otomatis ke antrean</a:t>
            </a:r>
            <a:endParaRPr lang="en-US" sz="1100" dirty="0"/>
          </a:p>
          <a:p>
            <a:pPr marL="152400" indent="-152400">
              <a:lnSpc>
                <a:spcPct val="135000"/>
              </a:lnSpc>
              <a:spcAft>
                <a:spcPts val="700"/>
              </a:spcAft>
              <a:buSzPct val="100000"/>
              <a:buChar char="▸"/>
            </a:pPr>
            <a:r>
              <a:rPr lang="en-US" sz="11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Sandbox audit, tren data, manajemen pengguna</a:t>
            </a:r>
            <a:endParaRPr lang="en-US" sz="1100" dirty="0"/>
          </a:p>
          <a:p>
            <a:pPr marL="152400" indent="-152400">
              <a:lnSpc>
                <a:spcPct val="135000"/>
              </a:lnSpc>
              <a:spcAft>
                <a:spcPts val="700"/>
              </a:spcAft>
              <a:buSzPct val="100000"/>
              <a:buChar char="▸"/>
            </a:pPr>
            <a:r>
              <a:rPr lang="en-US" sz="11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Retrain IsolationForest dari label verdict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279392" y="2871216"/>
            <a:ext cx="3602736" cy="3127248"/>
          </a:xfrm>
          <a:prstGeom prst="roundRect">
            <a:avLst>
              <a:gd name="adj" fmla="val 2924"/>
            </a:avLst>
          </a:prstGeom>
          <a:solidFill>
            <a:srgbClr val="E9F7EF"/>
          </a:solidFill>
          <a:ln w="12700">
            <a:solidFill>
              <a:srgbClr val="C9E9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17136" y="307238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5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Yang sudah diuji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517136" y="3401568"/>
            <a:ext cx="31546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35000"/>
              </a:lnSpc>
              <a:spcAft>
                <a:spcPts val="700"/>
              </a:spcAft>
              <a:buSzPct val="100000"/>
              <a:buChar char="▸"/>
            </a:pPr>
            <a:r>
              <a:rPr lang="en-US" sz="11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Alur end-to-end: ingest API → audit → verdict tersimpan</a:t>
            </a:r>
            <a:endParaRPr lang="en-US" sz="1100" dirty="0"/>
          </a:p>
          <a:p>
            <a:pPr marL="152400" indent="-152400">
              <a:lnSpc>
                <a:spcPct val="135000"/>
              </a:lnSpc>
              <a:spcAft>
                <a:spcPts val="700"/>
              </a:spcAft>
              <a:buSzPct val="100000"/>
              <a:buChar char="▸"/>
            </a:pPr>
            <a:r>
              <a:rPr lang="en-US" sz="11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150 klaim teraudit otomatis (89 bersih / 61 anomali)</a:t>
            </a:r>
            <a:endParaRPr lang="en-US" sz="1100" dirty="0"/>
          </a:p>
          <a:p>
            <a:pPr marL="152400" indent="-152400">
              <a:lnSpc>
                <a:spcPct val="135000"/>
              </a:lnSpc>
              <a:spcAft>
                <a:spcPts val="700"/>
              </a:spcAft>
              <a:buSzPct val="100000"/>
              <a:buChar char="▸"/>
            </a:pPr>
            <a:r>
              <a:rPr lang="en-US" sz="11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Idempotensi SEP: kiriman ganda ditolak</a:t>
            </a:r>
            <a:endParaRPr lang="en-US" sz="1100" dirty="0"/>
          </a:p>
          <a:p>
            <a:pPr marL="152400" indent="-152400">
              <a:lnSpc>
                <a:spcPct val="135000"/>
              </a:lnSpc>
              <a:spcAft>
                <a:spcPts val="700"/>
              </a:spcAft>
              <a:buSzPct val="100000"/>
              <a:buChar char="▸"/>
            </a:pPr>
            <a:r>
              <a:rPr lang="en-US" sz="11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Rate limit login + kunci API per faskes diuji</a:t>
            </a:r>
            <a:endParaRPr lang="en-US" sz="1100" dirty="0"/>
          </a:p>
          <a:p>
            <a:pPr marL="152400" indent="-152400">
              <a:lnSpc>
                <a:spcPct val="135000"/>
              </a:lnSpc>
              <a:spcAft>
                <a:spcPts val="700"/>
              </a:spcAft>
              <a:buSzPct val="100000"/>
              <a:buChar char="▸"/>
            </a:pPr>
            <a:r>
              <a:rPr lang="en-US" sz="11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Tampilan diverifikasi pada 390px hingga 1440px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101584" y="2871216"/>
            <a:ext cx="3602736" cy="3127248"/>
          </a:xfrm>
          <a:prstGeom prst="roundRect">
            <a:avLst>
              <a:gd name="adj" fmla="val 2924"/>
            </a:avLst>
          </a:prstGeom>
          <a:solidFill>
            <a:srgbClr val="F6F8FA"/>
          </a:solidFill>
          <a:ln w="12700">
            <a:solidFill>
              <a:srgbClr val="ECEE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39328" y="307238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291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Yang belum (jujur)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339328" y="3401568"/>
            <a:ext cx="31546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35000"/>
              </a:lnSpc>
              <a:spcAft>
                <a:spcPts val="700"/>
              </a:spcAft>
              <a:buSzPct val="100000"/>
              <a:buChar char="▸"/>
            </a:pPr>
            <a:r>
              <a:rPr lang="en-US" sz="11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Belum terhubung data produksi BPJS</a:t>
            </a:r>
            <a:endParaRPr lang="en-US" sz="1100" dirty="0"/>
          </a:p>
          <a:p>
            <a:pPr marL="152400" indent="-152400">
              <a:lnSpc>
                <a:spcPct val="135000"/>
              </a:lnSpc>
              <a:spcAft>
                <a:spcPts val="700"/>
              </a:spcAft>
              <a:buSzPct val="100000"/>
              <a:buChar char="▸"/>
            </a:pPr>
            <a:r>
              <a:rPr lang="en-US" sz="11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Belum ada uji lapangan dengan verifikator asli</a:t>
            </a:r>
            <a:endParaRPr lang="en-US" sz="1100" dirty="0"/>
          </a:p>
          <a:p>
            <a:pPr marL="152400" indent="-152400">
              <a:lnSpc>
                <a:spcPct val="135000"/>
              </a:lnSpc>
              <a:spcAft>
                <a:spcPts val="700"/>
              </a:spcAft>
              <a:buSzPct val="100000"/>
              <a:buChar char="▸"/>
            </a:pPr>
            <a:r>
              <a:rPr lang="en-US" sz="11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Akurasi presisi/recall baru terukur setelah pilot</a:t>
            </a:r>
            <a:endParaRPr lang="en-US" sz="1100" dirty="0"/>
          </a:p>
          <a:p>
            <a:pPr marL="152400" indent="-152400">
              <a:lnSpc>
                <a:spcPct val="135000"/>
              </a:lnSpc>
              <a:spcAft>
                <a:spcPts val="700"/>
              </a:spcAft>
              <a:buSzPct val="100000"/>
              <a:buChar char="▸"/>
            </a:pPr>
            <a:r>
              <a:rPr lang="en-US" sz="11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produksi (PostgreSQL) masuk rencana</a:t>
            </a:r>
            <a:endParaRPr lang="en-US" sz="1100" dirty="0"/>
          </a:p>
          <a:p>
            <a:pPr marL="152400" indent="-152400">
              <a:lnSpc>
                <a:spcPct val="135000"/>
              </a:lnSpc>
              <a:spcAft>
                <a:spcPts val="700"/>
              </a:spcAft>
              <a:buSzPct val="100000"/>
              <a:buChar char="▸"/>
            </a:pPr>
            <a:r>
              <a:rPr lang="en-US" sz="11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Belum di-deploy ke infrastruktur resmi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291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SiKePo · Healthkathon BPJS Kesehatan 2026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91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9B4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BAGIAN 6 · RENCANA &amp; KELAYAKAN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5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Empat fase menuju siap implementasi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27632"/>
            <a:ext cx="2679192" cy="3931920"/>
          </a:xfrm>
          <a:prstGeom prst="roundRect">
            <a:avLst>
              <a:gd name="adj" fmla="val 3413"/>
            </a:avLst>
          </a:prstGeom>
          <a:solidFill>
            <a:srgbClr val="0B1526"/>
          </a:solidFill>
          <a:ln w="12700">
            <a:solidFill>
              <a:srgbClr val="EC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B1526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76656" y="182880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5D0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Minggu 1-4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76656" y="210312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Fondasi produksi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76656" y="274320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35000"/>
              </a:lnSpc>
              <a:spcAft>
                <a:spcPts val="700"/>
              </a:spcAft>
              <a:buSzPct val="100000"/>
              <a:buChar char="▸"/>
            </a:pPr>
            <a:r>
              <a:rPr lang="en-US" sz="1050" dirty="0">
                <a:solidFill>
                  <a:srgbClr val="AAB9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PostgreSQL + container Docker</a:t>
            </a:r>
            <a:endParaRPr lang="en-US" sz="1050" dirty="0"/>
          </a:p>
          <a:p>
            <a:pPr marL="152400" indent="-152400">
              <a:lnSpc>
                <a:spcPct val="135000"/>
              </a:lnSpc>
              <a:spcAft>
                <a:spcPts val="700"/>
              </a:spcAft>
              <a:buSzPct val="100000"/>
              <a:buChar char="▸"/>
            </a:pPr>
            <a:r>
              <a:rPr lang="en-US" sz="1050" dirty="0">
                <a:solidFill>
                  <a:srgbClr val="AAB9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Pemindahan seluruh API dari file ke DB</a:t>
            </a:r>
            <a:endParaRPr lang="en-US" sz="1050" dirty="0"/>
          </a:p>
          <a:p>
            <a:pPr marL="152400" indent="-152400">
              <a:lnSpc>
                <a:spcPct val="135000"/>
              </a:lnSpc>
              <a:spcAft>
                <a:spcPts val="700"/>
              </a:spcAft>
              <a:buSzPct val="100000"/>
              <a:buChar char="▸"/>
            </a:pPr>
            <a:r>
              <a:rPr lang="en-US" sz="1050" dirty="0">
                <a:solidFill>
                  <a:srgbClr val="AAB9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Penguatan keamanan: minimasi PII, backup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76656" y="4892040"/>
            <a:ext cx="2240280" cy="0"/>
          </a:xfrm>
          <a:prstGeom prst="line">
            <a:avLst/>
          </a:prstGeom>
          <a:noFill/>
          <a:ln w="12700">
            <a:solidFill>
              <a:srgbClr val="2440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49834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648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Deliverable: versi production-ready internal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136392" y="329184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291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319272" y="1627632"/>
            <a:ext cx="2679192" cy="3931920"/>
          </a:xfrm>
          <a:prstGeom prst="roundRect">
            <a:avLst>
              <a:gd name="adj" fmla="val 3413"/>
            </a:avLst>
          </a:prstGeom>
          <a:solidFill>
            <a:srgbClr val="FFFFFF"/>
          </a:solidFill>
          <a:ln w="12700">
            <a:solidFill>
              <a:srgbClr val="EC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B1526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38728" y="182880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B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Minggu 5-12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38728" y="210312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50" b="1" dirty="0">
                <a:solidFill>
                  <a:srgbClr val="0B15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Pilot shadow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3538728" y="274320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35000"/>
              </a:lnSpc>
              <a:spcAft>
                <a:spcPts val="700"/>
              </a:spcAft>
              <a:buSzPct val="100000"/>
              <a:buChar char="▸"/>
            </a:pP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Berjalan di 1 KC mode bayangan</a:t>
            </a:r>
            <a:endParaRPr lang="en-US" sz="1050" dirty="0"/>
          </a:p>
          <a:p>
            <a:pPr marL="152400" indent="-152400">
              <a:lnSpc>
                <a:spcPct val="135000"/>
              </a:lnSpc>
              <a:spcAft>
                <a:spcPts val="700"/>
              </a:spcAft>
              <a:buSzPct val="100000"/>
              <a:buChar char="▸"/>
            </a:pP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Verifikator tetap memutuskan manual</a:t>
            </a:r>
            <a:endParaRPr lang="en-US" sz="1050" dirty="0"/>
          </a:p>
          <a:p>
            <a:pPr marL="152400" indent="-152400">
              <a:lnSpc>
                <a:spcPct val="135000"/>
              </a:lnSpc>
              <a:spcAft>
                <a:spcPts val="700"/>
              </a:spcAft>
              <a:buSzPct val="100000"/>
              <a:buChar char="▸"/>
            </a:pP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Ukur presisi/recall per modus fraud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538728" y="4892040"/>
            <a:ext cx="2240280" cy="0"/>
          </a:xfrm>
          <a:prstGeom prst="line">
            <a:avLst/>
          </a:prstGeom>
          <a:noFill/>
          <a:ln w="12700">
            <a:solidFill>
              <a:srgbClr val="ECEE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38728" y="49834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8291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Deliverable: laporan evaluasi 4 minggu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98464" y="329184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291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81344" y="1627632"/>
            <a:ext cx="2679192" cy="3931920"/>
          </a:xfrm>
          <a:prstGeom prst="roundRect">
            <a:avLst>
              <a:gd name="adj" fmla="val 3413"/>
            </a:avLst>
          </a:prstGeom>
          <a:solidFill>
            <a:srgbClr val="FFFFFF"/>
          </a:solidFill>
          <a:ln w="12700">
            <a:solidFill>
              <a:srgbClr val="EC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B1526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0" y="182880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B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Bulan 4-6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0" y="210312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50" b="1" dirty="0">
                <a:solidFill>
                  <a:srgbClr val="0B15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Go-live bertahap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400800" y="274320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35000"/>
              </a:lnSpc>
              <a:spcAft>
                <a:spcPts val="700"/>
              </a:spcAft>
              <a:buSzPct val="100000"/>
              <a:buChar char="▸"/>
            </a:pP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Klaim hijau lanjut otomatis di 1 KC</a:t>
            </a:r>
            <a:endParaRPr lang="en-US" sz="1050" dirty="0"/>
          </a:p>
          <a:p>
            <a:pPr marL="152400" indent="-152400">
              <a:lnSpc>
                <a:spcPct val="135000"/>
              </a:lnSpc>
              <a:spcAft>
                <a:spcPts val="700"/>
              </a:spcAft>
              <a:buSzPct val="100000"/>
              <a:buChar char="▸"/>
            </a:pP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SOP + pelatihan verifikator</a:t>
            </a:r>
            <a:endParaRPr lang="en-US" sz="1050" dirty="0"/>
          </a:p>
          <a:p>
            <a:pPr marL="152400" indent="-152400">
              <a:lnSpc>
                <a:spcPct val="135000"/>
              </a:lnSpc>
              <a:spcAft>
                <a:spcPts val="700"/>
              </a:spcAft>
              <a:buSzPct val="100000"/>
              <a:buChar char="▸"/>
            </a:pP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Rollback plan &lt; 15 menit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0" y="4892040"/>
            <a:ext cx="2240280" cy="0"/>
          </a:xfrm>
          <a:prstGeom prst="line">
            <a:avLst/>
          </a:prstGeom>
          <a:noFill/>
          <a:ln w="12700">
            <a:solidFill>
              <a:srgbClr val="ECEE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49834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8291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Deliverable: 1 KC beroperasi dengan SiKePo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860536" y="329184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291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043416" y="1627632"/>
            <a:ext cx="2679192" cy="3931920"/>
          </a:xfrm>
          <a:prstGeom prst="roundRect">
            <a:avLst>
              <a:gd name="adj" fmla="val 3413"/>
            </a:avLst>
          </a:prstGeom>
          <a:solidFill>
            <a:srgbClr val="FFFFFF"/>
          </a:solidFill>
          <a:ln w="12700">
            <a:solidFill>
              <a:srgbClr val="EC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B1526">
                <a:alpha val="13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262872" y="182880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B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Bulan 7+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262872" y="210312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50" b="1" dirty="0">
                <a:solidFill>
                  <a:srgbClr val="0B15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Skala &amp; mitra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9262872" y="274320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35000"/>
              </a:lnSpc>
              <a:spcAft>
                <a:spcPts val="700"/>
              </a:spcAft>
              <a:buSzPct val="100000"/>
              <a:buChar char="▸"/>
            </a:pP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Perluasan KC + onboarding SIMRS</a:t>
            </a:r>
            <a:endParaRPr lang="en-US" sz="1050" dirty="0"/>
          </a:p>
          <a:p>
            <a:pPr marL="152400" indent="-152400">
              <a:lnSpc>
                <a:spcPct val="135000"/>
              </a:lnSpc>
              <a:spcAft>
                <a:spcPts val="700"/>
              </a:spcAft>
              <a:buSzPct val="100000"/>
              <a:buChar char="▸"/>
            </a:pP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analitik nasional</a:t>
            </a:r>
            <a:endParaRPr lang="en-US" sz="1050" dirty="0"/>
          </a:p>
          <a:p>
            <a:pPr marL="152400" indent="-152400">
              <a:lnSpc>
                <a:spcPct val="135000"/>
              </a:lnSpc>
              <a:spcAft>
                <a:spcPts val="700"/>
              </a:spcAft>
              <a:buSzPct val="100000"/>
              <a:buChar char="▸"/>
            </a:pP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Kerja sama data resmi BPJS Kesehatan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262872" y="4892040"/>
            <a:ext cx="2240280" cy="0"/>
          </a:xfrm>
          <a:prstGeom prst="line">
            <a:avLst/>
          </a:prstGeom>
          <a:noFill/>
          <a:ln w="12700">
            <a:solidFill>
              <a:srgbClr val="ECEEF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62872" y="49834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8291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Deliverable: laporan dampak kuartalan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587044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291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Sumber daya: 1-3 orang tim + akses data uji terbatas berizin; kebutuhan utama berupa satu KC mitra untuk fase pilot shadow.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" y="651052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291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SiKePo · Healthkathon BPJS Kesehatan 2026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4552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91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9B4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BAGIAN 7 · DAMPAK &amp; NILAI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5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Sebelum vs sesudah SiKePo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7455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206240"/>
                <a:gridCol w="432511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Aspek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5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Tanpa SiKePo (manual)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5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Dengan SiKePo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B4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Cakupan pemeriksaan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Sampling sebagian berkas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100% klaim dibaca mesin sebelum cair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Waktu penilaian per berkas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Belasan menit hingga jam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&lt; 2 detik per klaim (terukur pada demo)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Dasar keputusan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Subjektif antar pemeriksa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Skor 0-100 + alasan per tahap, konsisten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Jejak audit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Catatan manual, tersebar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Tersimpan otomatis per verdict, immutable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Deteksi pola baru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Bergantung pengalaman individu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ML ter-retrain dari label verdict terbaru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92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5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Nilai per pemangku kepentingan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57200" y="5230368"/>
            <a:ext cx="3602736" cy="896112"/>
          </a:xfrm>
          <a:prstGeom prst="roundRect">
            <a:avLst>
              <a:gd name="adj" fmla="val 9184"/>
            </a:avLst>
          </a:prstGeom>
          <a:solidFill>
            <a:srgbClr val="F6F8FA"/>
          </a:solidFill>
          <a:ln/>
        </p:spPr>
      </p:sp>
      <p:sp>
        <p:nvSpPr>
          <p:cNvPr id="7" name="Text 4"/>
          <p:cNvSpPr/>
          <p:nvPr/>
        </p:nvSpPr>
        <p:spPr>
          <a:xfrm>
            <a:off x="676656" y="535838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5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Peserta JKN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76656" y="560527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Iuran terjaga dari kebocoran; layak-dapat layak-bayar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79392" y="5230368"/>
            <a:ext cx="3602736" cy="896112"/>
          </a:xfrm>
          <a:prstGeom prst="roundRect">
            <a:avLst>
              <a:gd name="adj" fmla="val 9184"/>
            </a:avLst>
          </a:prstGeom>
          <a:solidFill>
            <a:srgbClr val="F6F8FA"/>
          </a:solidFill>
          <a:ln/>
        </p:spPr>
      </p:sp>
      <p:sp>
        <p:nvSpPr>
          <p:cNvPr id="10" name="Text 7"/>
          <p:cNvSpPr/>
          <p:nvPr/>
        </p:nvSpPr>
        <p:spPr>
          <a:xfrm>
            <a:off x="4498848" y="535838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5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Faskes jujur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498848" y="560527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Klaim bersih cair lebih cepat; bukti objektif saat diaudit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101584" y="5230368"/>
            <a:ext cx="3602736" cy="896112"/>
          </a:xfrm>
          <a:prstGeom prst="roundRect">
            <a:avLst>
              <a:gd name="adj" fmla="val 9184"/>
            </a:avLst>
          </a:prstGeom>
          <a:solidFill>
            <a:srgbClr val="F6F8FA"/>
          </a:solidFill>
          <a:ln/>
        </p:spPr>
      </p:sp>
      <p:sp>
        <p:nvSpPr>
          <p:cNvPr id="13" name="Text 10"/>
          <p:cNvSpPr/>
          <p:nvPr/>
        </p:nvSpPr>
        <p:spPr>
          <a:xfrm>
            <a:off x="8321040" y="535838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5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BPJS Kesehatan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321040" y="560527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Efisiensi risiko terukur dan jejak audit kuartalan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57200" y="6355080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291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Dampak berbasis demo internal (150 klaim); angka lapangan divalidasi saat pilot shadow. Waktu &lt; 2 detik diukur dari latency endpoint audit.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57200" y="651052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291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SiKePo · Healthkathon BPJS Kesehatan 2026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74552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91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9B4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BAGIAN 8 · RISIKO, PRIVASI &amp; ETIKA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5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 mendukung keputusan, tidak menggantikan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72768"/>
            <a:ext cx="5504688" cy="2048256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EC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B1526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7556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DB2C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Perlindungan data (UU PDP)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13232" y="2084832"/>
            <a:ext cx="50109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150" dirty="0">
                <a:solidFill>
                  <a:srgbClr val="9DB2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Saat ini memakai 150 klaim sintetis, tanpa data peserta riil. Password ber-hash PBKDF2, sesi terkelola, RBAC 4 peran, jejak audit per keputusan. Produksi: minimasi PII, enkripsi at-rest, perjanjian kerahasiaan.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27064" y="1572768"/>
            <a:ext cx="5504688" cy="2048256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EC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B1526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83096" y="17556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A556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Bias &amp; keterbatasan AI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83096" y="2084832"/>
            <a:ext cx="50109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IsolationForest bisa keliru pada kasus langka; LLM dapat keliru memahami konteks. Mitigasi: skor adalah fusi aturan + ML, threshold konservatif, retrain berkala dari label verdict, dan semua alasan tampil untuk bisa dibantah.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3785616"/>
            <a:ext cx="5504688" cy="2048256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EC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B1526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13232" y="396849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A556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Human-in-the-loop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13232" y="4297680"/>
            <a:ext cx="50109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Mesin hanya memberi rekomendasi berstatus; klaim berisiko wajib melewati verifikator, eskalasi ke Satgas Anti-Fraud, dan setiap perubahan verdict manusia tercatat namanya.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27064" y="3785616"/>
            <a:ext cx="5504688" cy="2048256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EC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B1526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83096" y="396849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A556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Mitigasi risiko utama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83096" y="4297680"/>
            <a:ext cx="50109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1) LLM gagal: fallback aturan deterministik menjaga layanan. 2) Kunci API bocor: rotasi per faskes + rate limit. 3) Faskes jujur tertolak: threshold konservatif + evaluasi pilot sebelum enforcement.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610819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291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Prinsip: transparan soal keterbatasan, tidak memakai data peserta JKN riil tanpa izin resmi, dan setiap klaim tetap dapat dibantah manusia.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651052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291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SiKePo · Healthkathon BPJS Kesehatan 2026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91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9B4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BAGIAN 9 · PROFIL &amp; PENGALAMAN TIM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5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Satu orang, seluruh lini produk</a:t>
            </a:r>
            <a:endParaRPr lang="en-US" sz="3000" dirty="0"/>
          </a:p>
        </p:txBody>
      </p:sp>
      <p:pic>
        <p:nvPicPr>
          <p:cNvPr id="4" name="Image 0" descr="D:/FamilyAgent/Nox/workspace/sikepo-app/proposal/assets/deck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554480"/>
            <a:ext cx="2834640" cy="35433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230368"/>
            <a:ext cx="2834640" cy="914400"/>
          </a:xfrm>
          <a:prstGeom prst="roundRect">
            <a:avLst>
              <a:gd name="adj" fmla="val 10000"/>
            </a:avLst>
          </a:prstGeom>
          <a:solidFill>
            <a:srgbClr val="0B1526"/>
          </a:solidFill>
          <a:ln/>
        </p:spPr>
      </p:sp>
      <p:sp>
        <p:nvSpPr>
          <p:cNvPr id="6" name="Text 3"/>
          <p:cNvSpPr/>
          <p:nvPr/>
        </p:nvSpPr>
        <p:spPr>
          <a:xfrm>
            <a:off x="713232" y="5358384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Decka Fadhila Tirta
</a:t>
            </a:r>
            <a:r>
              <a:rPr lang="en-US" sz="1000" dirty="0">
                <a:solidFill>
                  <a:srgbClr val="9DB2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deckafadhila@gmail.com · decka.xyz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703320" y="157276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5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Decka Fadhila Tirta, S.Si.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3703320" y="199339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9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 Engineer &amp; Product · S.Si. Fisika, Universitas Negeri Yogyakarta (2026)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3703320" y="239572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5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Membangun SiKePo dari nol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703320" y="265176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 FastAPI + pipeline AI (rules, IsolationForest, integrasi LLM) dan frontend vanilla JS, tanpa framework berat agar mudah diaudit dan di-deploy.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3703320" y="3236976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5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&amp; riset kuantitatif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703320" y="349300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Analisis dinamika atmosfer kejadian banjir Kabupaten Kudus memakai Python pada 10.000+ titik data; asisten lab Fisika Komputasi dan Sistem Digital UNY.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3703320" y="4078224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5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&amp; otomasi kerja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703320" y="4334256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Praktik AI-assisted research dan agent workflow (n8n, knowledge base) yang dipakai langsung dalam pipeline adjudikasi dan dokumen proyek ini.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3703320" y="4919472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5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Riset teknologi &amp; ekosistem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703320" y="5175504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Evaluasi 300+ kampanye proyek Web3 (aktivitas, insentif, protokol); intern BPBD Kabupaten Kudus untuk pemetaan risiko bencana.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3703320" y="5806440"/>
            <a:ext cx="7955280" cy="566928"/>
          </a:xfrm>
          <a:prstGeom prst="roundRect">
            <a:avLst>
              <a:gd name="adj" fmla="val 14516"/>
            </a:avLst>
          </a:prstGeom>
          <a:solidFill>
            <a:srgbClr val="E9F7EF"/>
          </a:solidFill>
          <a:ln/>
        </p:spPr>
      </p:sp>
      <p:sp>
        <p:nvSpPr>
          <p:cNvPr id="18" name="Text 15"/>
          <p:cNvSpPr/>
          <p:nvPr/>
        </p:nvSpPr>
        <p:spPr>
          <a:xfrm>
            <a:off x="3977640" y="580644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150" b="1" dirty="0">
                <a:solidFill>
                  <a:srgbClr val="0676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Mengapa mampu eksekusi:  </a:t>
            </a:r>
            <a:r>
              <a:rPr lang="en-US" sz="11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satu orang menguasai data, AI, backend, dan tampilan, sehingga iterasi dari masukan juri berlangsung cepat tanpa koordinasi antar tim.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57200" y="651052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291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SiKePo · Healthkathon BPJS Kesehatan 2026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4552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91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/FamilyAgent/Nox/workspace/sikepo-app/frontend/img/sikepo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777240" cy="63093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96596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Detect Smarter.</a:t>
            </a:r>
            <a:endParaRPr lang="en-US" sz="5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Protect JKN.</a:t>
            </a:r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457200" y="41605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5D0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SiKePo · </a:t>
            </a:r>
            <a:r>
              <a:rPr lang="en-US" sz="1400" dirty="0">
                <a:solidFill>
                  <a:srgbClr val="AAB9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Sistem Investigasi Kelayakan Klaim &amp; Pola Overbilling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57200" y="4709160"/>
            <a:ext cx="5852160" cy="0"/>
          </a:xfrm>
          <a:prstGeom prst="line">
            <a:avLst/>
          </a:prstGeom>
          <a:noFill/>
          <a:ln w="12700">
            <a:solidFill>
              <a:srgbClr val="24406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489204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 live tersedia
</a:t>
            </a:r>
            <a:r>
              <a:rPr lang="en-US" sz="1150" dirty="0">
                <a:solidFill>
                  <a:srgbClr val="AAB9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Cockpit, Portal Faskes, dan panduan integrasi dapat dicoba langsung pada sesi presentasi.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949440" y="48920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Coba Namanya Ini · Decka Fadhila Tirta
</a:t>
            </a:r>
            <a:r>
              <a:rPr lang="en-US" sz="1150" dirty="0">
                <a:solidFill>
                  <a:srgbClr val="9DB2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deckafadhila@gmail.com · decka.xyz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8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Healthkathon BPJS Kesehatan 2026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SiKePo — Proposal Healthkathon 2026</dc:title>
  <dc:subject>PptxGenJS Presentation</dc:subject>
  <dc:creator>Coba Namanya Ini</dc:creator>
  <cp:lastModifiedBy>Coba Namanya Ini</cp:lastModifiedBy>
  <cp:revision>1</cp:revision>
  <dcterms:created xsi:type="dcterms:W3CDTF">2026-09-12T06:40:42Z</dcterms:created>
  <dcterms:modified xsi:type="dcterms:W3CDTF">2026-09-12T06:40:42Z</dcterms:modified>
</cp:coreProperties>
</file>