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5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FamilyAgent/Nox/workspace/sikepo-app/proposal/assets/cover-mach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502920"/>
            <a:ext cx="5074920" cy="3977640"/>
          </a:xfrm>
          <a:prstGeom prst="rect">
            <a:avLst/>
          </a:prstGeom>
        </p:spPr>
      </p:pic>
      <p:pic>
        <p:nvPicPr>
          <p:cNvPr id="3" name="Image 1" descr="D:/FamilyAgent/Nox/workspace/sikepo-app/frontend/img/sikepo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502920"/>
            <a:ext cx="566928" cy="4572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143000" y="475488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SiKePo</a:t>
            </a:r>
            <a:endParaRPr lang="en-US" sz="3000" dirty="0"/>
          </a:p>
        </p:txBody>
      </p:sp>
      <p:sp>
        <p:nvSpPr>
          <p:cNvPr id="5" name="Text 1"/>
          <p:cNvSpPr/>
          <p:nvPr/>
        </p:nvSpPr>
        <p:spPr>
          <a:xfrm>
            <a:off x="457200" y="21488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2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Sistem Investigasi Kelayakan Klaim &amp; Pola Overbilling</a:t>
            </a:r>
            <a:endParaRPr lang="en-US" sz="1300" dirty="0"/>
          </a:p>
        </p:txBody>
      </p:sp>
      <p:sp>
        <p:nvSpPr>
          <p:cNvPr id="6" name="Text 2"/>
          <p:cNvSpPr/>
          <p:nvPr/>
        </p:nvSpPr>
        <p:spPr>
          <a:xfrm>
            <a:off x="457200" y="2487168"/>
            <a:ext cx="6583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Deteksi klaim fraud
</a:t>
            </a:r>
            <a:r>
              <a:rPr lang="en-US" sz="44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sebelum </a:t>
            </a:r>
            <a:r>
              <a:rPr lang="en-US" sz="4400" b="1" dirty="0">
                <a:solidFill>
                  <a:srgbClr val="35D08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dana cair.</a:t>
            </a:r>
            <a:endParaRPr lang="en-US" sz="4400" dirty="0"/>
          </a:p>
        </p:txBody>
      </p:sp>
      <p:sp>
        <p:nvSpPr>
          <p:cNvPr id="7" name="Text 3"/>
          <p:cNvSpPr/>
          <p:nvPr/>
        </p:nvSpPr>
        <p:spPr>
          <a:xfrm>
            <a:off x="457200" y="4315968"/>
            <a:ext cx="6309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A1 Triage, A2 Investigator, dan A3 Adjudicator menilai setiap klaim dalam hitungan detik. Skor risiko 0–100 disertai bukti yang dapat dibaca; keputusan akhir tetap milik verifikator.</a:t>
            </a:r>
            <a:endParaRPr lang="en-US" sz="1350" dirty="0"/>
          </a:p>
        </p:txBody>
      </p:sp>
      <p:sp>
        <p:nvSpPr>
          <p:cNvPr id="8" name="Shape 4"/>
          <p:cNvSpPr/>
          <p:nvPr/>
        </p:nvSpPr>
        <p:spPr>
          <a:xfrm>
            <a:off x="457200" y="5532120"/>
            <a:ext cx="5852160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457200" y="5687568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Coba Namanya Ini</a:t>
            </a:r>
            <a:r>
              <a:rPr lang="en-US" sz="130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Decka Fadhila Tirta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457200" y="60167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80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Healthkathon BPJS Kesehatan 2026 · Efisiensi Risiko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949440" y="61722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35D08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Detect Smarter. Protect JKN.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KATEGORI &amp; SUB-KATEGORI YANG DIIKUTI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Efisiensi Risiko Fasilitas Kesehatan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81328"/>
            <a:ext cx="11274552" cy="841248"/>
          </a:xfrm>
          <a:prstGeom prst="roundRect">
            <a:avLst>
              <a:gd name="adj" fmla="val 9783"/>
            </a:avLst>
          </a:prstGeom>
          <a:solidFill>
            <a:srgbClr val="E9F7E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481328"/>
            <a:ext cx="10698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76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Kategori: </a:t>
            </a:r>
            <a:r>
              <a:rPr lang="en-US" sz="1400" b="1" dirty="0">
                <a:solidFill>
                  <a:srgbClr val="0676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Efisiensi Risiko Fasilitas Kesehatan</a:t>
            </a:r>
            <a:r>
              <a:rPr lang="en-US" sz="14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Fokus SiKePo: klaim rawat inap FKRTL yang dinilai sebelum dana cair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60604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Sub-kategori fokus (nomor mengikuti daftar resmi panitia), terdeteksi otomatis oleh SiKePo: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57200" y="3035808"/>
            <a:ext cx="5504688" cy="1426464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318211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No. 4 · Upcoding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13232" y="349300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Diagnosis atau tindakan dimanipulasi agar nilai klaim meningkat.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13232" y="40690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9B4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24 kasus pada dataset 150 klaim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27064" y="3035808"/>
            <a:ext cx="5504688" cy="1426464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83096" y="318211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No. 6 · Phantom billing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483096" y="349300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Klaim atas layanan yang tidak pernah diberikan kepada pasien.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483096" y="40690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9B4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18 kasus · fingerprint rawat absen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4608576"/>
            <a:ext cx="5504688" cy="1426464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13232" y="4754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No. 7 · Inflated bills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13232" y="5065776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Biaya obat dan alkes ditagih melebihi biaya sebenarnya.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13232" y="564184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9B4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19 kasus · obat di luar e-Fornas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27064" y="4608576"/>
            <a:ext cx="5504688" cy="1426464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83096" y="4754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No. 5 · Cloning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483096" y="5065776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Klaim dibuat dengan menyalin klaim atau rekam medis pasien lain.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483096" y="564184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9B4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 kasus · kemiripan resume tinggi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6263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Cakupan lanjutan: prolonged length of stay (No. 12), readmisi (No. 16), repeat billing (No. 11), dan unbundling/fragmentasi (No. 9) dipantau melalui pemeriksaan LOS dan pola episode. Kasus = sebaran modus pada 150 klaim uji SiKePo.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1 · IDENTITAS &amp; POSITIONING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Asisten verifikator yang membaca semua berkas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1274552" cy="1920240"/>
          </a:xfrm>
          <a:prstGeom prst="roundRect">
            <a:avLst>
              <a:gd name="adj" fmla="val 4762"/>
            </a:avLst>
          </a:prstGeom>
          <a:solidFill>
            <a:srgbClr val="F6F8FA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83080"/>
            <a:ext cx="10561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spcAft>
                <a:spcPts val="600"/>
              </a:spcAft>
              <a:buNone/>
            </a:pPr>
            <a:r>
              <a:rPr lang="en-US" sz="1100" b="1" spc="200" kern="0" dirty="0">
                <a:solidFill>
                  <a:srgbClr val="009B4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SATU KALIMAT NILAI</a:t>
            </a:r>
            <a:endParaRPr lang="en-US" sz="1100" dirty="0"/>
          </a:p>
          <a:p>
            <a:pPr algn="just" indent="0" marL="0">
              <a:lnSpc>
                <a:spcPct val="150000"/>
              </a:lnSpc>
              <a:spcAft>
                <a:spcPts val="600"/>
              </a:spcAft>
              <a:buNone/>
            </a:pPr>
            <a:r>
              <a:rPr lang="en-US" sz="1800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membaca setiap berkas klaim dalam hitungan detik, memberi skor risiko 0–100 beserta bukti yang dapat dibaca, lalu menyerahkan keputusan akhir kepada verifikator.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36758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Posisi kami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152400" indent="-152400">
              <a:lnSpc>
                <a:spcPct val="145000"/>
              </a:lnSpc>
              <a:spcAft>
                <a:spcPts val="1200"/>
              </a:spcAft>
              <a:buSzPct val="100000"/>
              <a:buChar char="▸"/>
            </a:pPr>
            <a:r>
              <a:rPr lang="en-US" sz="13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 berjalan di dalam alur klaim, sebelum dana cair, bukan laporan setelah kejadian.</a:t>
            </a:r>
            <a:endParaRPr lang="en-US" sz="1350" dirty="0"/>
          </a:p>
          <a:p>
            <a:pPr algn="just" marL="152400" indent="-152400">
              <a:lnSpc>
                <a:spcPct val="145000"/>
              </a:lnSpc>
              <a:spcAft>
                <a:spcPts val="1200"/>
              </a:spcAft>
              <a:buSzPct val="100000"/>
              <a:buChar char="▸"/>
            </a:pPr>
            <a:r>
              <a:rPr lang="en-US" sz="13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Setiap skor disertai alasan yang dapat dibaca dan diaudit.</a:t>
            </a:r>
            <a:endParaRPr lang="en-US" sz="1350" dirty="0"/>
          </a:p>
          <a:p>
            <a:pPr algn="just" marL="152400" indent="-152400">
              <a:lnSpc>
                <a:spcPct val="145000"/>
              </a:lnSpc>
              <a:spcAft>
                <a:spcPts val="1200"/>
              </a:spcAft>
              <a:buSzPct val="100000"/>
              <a:buChar char="▸"/>
            </a:pPr>
            <a:r>
              <a:rPr lang="en-US" sz="13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memberi rekomendasi; verifikator yang memutuskan.</a:t>
            </a:r>
            <a:endParaRPr lang="en-US" sz="1350" dirty="0"/>
          </a:p>
        </p:txBody>
      </p:sp>
      <p:pic>
        <p:nvPicPr>
          <p:cNvPr id="8" name="Image 0" descr="D:/FamilyAgent/Nox/workspace/sikepo-app/proposal/assets/shot-claims-strip.png">    </p:cNvPr>
          <p:cNvPicPr>
            <a:picLocks noChangeAspect="1"/>
          </p:cNvPicPr>
          <p:nvPr/>
        </p:nvPicPr>
        <p:blipFill>
          <a:blip r:embed="rId1"/>
          <a:srcRect l="4000" r="4000" t="0" b="0"/>
          <a:stretch/>
        </p:blipFill>
        <p:spPr>
          <a:xfrm>
            <a:off x="457200" y="5230368"/>
            <a:ext cx="11274552" cy="13716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2 · MASALAH &amp; URGENSI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Klaim fraudulent bocor setelah dana cair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72768"/>
            <a:ext cx="3602736" cy="1883664"/>
          </a:xfrm>
          <a:prstGeom prst="roundRect">
            <a:avLst>
              <a:gd name="adj" fmla="val 4854"/>
            </a:avLst>
          </a:prstGeom>
          <a:solidFill>
            <a:srgbClr val="0B1526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773936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Rp 2,6 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2487168"/>
            <a:ext cx="3063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kerugian klaim fraudulent yang ditemukan BPJS Kesehatan pada 2023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3145536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80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Publikasi media nasional, awal 2024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279392" y="1572768"/>
            <a:ext cx="3602736" cy="1883664"/>
          </a:xfrm>
          <a:prstGeom prst="roundRect">
            <a:avLst>
              <a:gd name="adj" fmla="val 4854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53712" y="1773936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254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Rp 12,63 T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553712" y="2487168"/>
            <a:ext cx="3063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estimasi potensi kebocoran dana JKN per tahun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53712" y="3145536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BPJS Watch, 2019 (estimasi)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101584" y="1572768"/>
            <a:ext cx="3602736" cy="1883664"/>
          </a:xfrm>
          <a:prstGeom prst="roundRect">
            <a:avLst>
              <a:gd name="adj" fmla="val 4854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75904" y="1773936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254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Ratusan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8375904" y="2487168"/>
            <a:ext cx="3063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berkas klaim ditangani manual oleh setiap verifikator setiap hari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375904" y="3145536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Wawancara proses kerja verifikasi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57200" y="3794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Yang membuatnya urgen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7200" y="4114800"/>
            <a:ext cx="6766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152400" indent="-152400">
              <a:spcAft>
                <a:spcPts val="1100"/>
              </a:spcAft>
              <a:buSzPct val="100000"/>
              <a:buChar char="▸"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Pemeriksaan manual hanya mampu mengambil sampel berkas.</a:t>
            </a:r>
            <a:endParaRPr lang="en-US" sz="1300" dirty="0"/>
          </a:p>
          <a:p>
            <a:pPr algn="just" marL="152400" indent="-152400">
              <a:spcAft>
                <a:spcPts val="1100"/>
              </a:spcAft>
              <a:buSzPct val="100000"/>
              <a:buChar char="▸"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Pola fraud terus berubah dan sulit diikuti secara konsisten.</a:t>
            </a:r>
            <a:endParaRPr lang="en-US" sz="1300" dirty="0"/>
          </a:p>
          <a:p>
            <a:pPr algn="just" marL="152400" indent="-152400">
              <a:spcAft>
                <a:spcPts val="1100"/>
              </a:spcAft>
              <a:buSzPct val="100000"/>
              <a:buChar char="▸"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Dana yang bocor adalah iuran peserta JKN.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635240" y="3794760"/>
            <a:ext cx="4096512" cy="2084832"/>
          </a:xfrm>
          <a:prstGeom prst="roundRect">
            <a:avLst>
              <a:gd name="adj" fmla="val 4386"/>
            </a:avLst>
          </a:prstGeom>
          <a:solidFill>
            <a:srgbClr val="FDECEA"/>
          </a:solidFill>
          <a:ln/>
        </p:spPr>
      </p:sp>
      <p:sp>
        <p:nvSpPr>
          <p:cNvPr id="19" name="Text 17"/>
          <p:cNvSpPr/>
          <p:nvPr/>
        </p:nvSpPr>
        <p:spPr>
          <a:xfrm>
            <a:off x="7909560" y="40050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4231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Konsekuensi bila dibiarkan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909560" y="4315968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B423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Klaim tidak layak terbayar lebih dahulu
</a:t>
            </a:r>
            <a:endParaRPr lang="en-US" sz="1200" dirty="0"/>
          </a:p>
          <a:p>
            <a:pPr algn="just" indent="0" marL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B423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Faskes jujur dapat tertuduh tanpa dasar bukti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6053328"/>
            <a:ext cx="11247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Sumber: publikasi media nasional atas keterangan BPJS Kesehatan dan BPJS Watch; angka merupakan temuan atau estimasi.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3 · SOLUSI &amp; KEUNGGULAN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Satu alur: masuk, dinilai mesin, diputuskan manusia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2084832" cy="1572768"/>
          </a:xfrm>
          <a:prstGeom prst="roundRect">
            <a:avLst>
              <a:gd name="adj" fmla="val 5233"/>
            </a:avLst>
          </a:prstGeom>
          <a:solidFill>
            <a:srgbClr val="F6F8FA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03504" y="184708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4A556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INPUT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03504" y="20848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SIMRS / Portal Faskes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03504" y="26060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klaim masuk otomatis, berkunci API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523744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770632" y="1691640"/>
            <a:ext cx="2084832" cy="1572768"/>
          </a:xfrm>
          <a:prstGeom prst="roundRect">
            <a:avLst>
              <a:gd name="adj" fmla="val 5233"/>
            </a:avLst>
          </a:prstGeom>
          <a:solidFill>
            <a:srgbClr val="E4F6FB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916936" y="184708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0284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916936" y="20848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Triage Aturan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916936" y="26060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rasio tarif, lama rawat, obat e-Fornas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837176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84064" y="1691640"/>
            <a:ext cx="2084832" cy="1572768"/>
          </a:xfrm>
          <a:prstGeom prst="roundRect">
            <a:avLst>
              <a:gd name="adj" fmla="val 5233"/>
            </a:avLst>
          </a:prstGeom>
          <a:solidFill>
            <a:srgbClr val="FCF1E4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230368" y="184708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5470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A2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230368" y="20848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Investigator ML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230368" y="26060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IsolationForest, fusi 45% aturan + 55% ML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150608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397496" y="1691640"/>
            <a:ext cx="2084832" cy="1572768"/>
          </a:xfrm>
          <a:prstGeom prst="roundRect">
            <a:avLst>
              <a:gd name="adj" fmla="val 5233"/>
            </a:avLst>
          </a:prstGeom>
          <a:solidFill>
            <a:srgbClr val="E9F7E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543800" y="184708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007C3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A3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543800" y="20848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Adjudicator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543800" y="26060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Ling 3.0 Flash Sante, alasan berbahasa Indonesia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464040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9710928" y="1691640"/>
            <a:ext cx="2084832" cy="1572768"/>
          </a:xfrm>
          <a:prstGeom prst="roundRect">
            <a:avLst>
              <a:gd name="adj" fmla="val 5233"/>
            </a:avLst>
          </a:prstGeom>
          <a:solidFill>
            <a:srgbClr val="E9F0FB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857232" y="184708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75CD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MANUSIA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9857232" y="20848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Verifikator BPJS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9857232" y="26060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Setujui, Tahan, atau Tolak berdasar bukti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3703320"/>
            <a:ext cx="3602736" cy="566928"/>
          </a:xfrm>
          <a:prstGeom prst="roundRect">
            <a:avLst>
              <a:gd name="adj" fmla="val 14516"/>
            </a:avLst>
          </a:prstGeom>
          <a:solidFill>
            <a:srgbClr val="E9F7EF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" y="370332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76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SIAP BAYAR   </a:t>
            </a:r>
            <a:r>
              <a:rPr lang="en-US" sz="1200" dirty="0">
                <a:solidFill>
                  <a:srgbClr val="0676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risiko rendah, cair lebih cepat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279392" y="3703320"/>
            <a:ext cx="3602736" cy="566928"/>
          </a:xfrm>
          <a:prstGeom prst="roundRect">
            <a:avLst>
              <a:gd name="adj" fmla="val 14516"/>
            </a:avLst>
          </a:prstGeom>
          <a:solidFill>
            <a:srgbClr val="FCF1E4"/>
          </a:solidFill>
          <a:ln/>
        </p:spPr>
      </p:sp>
      <p:sp>
        <p:nvSpPr>
          <p:cNvPr id="31" name="Text 29"/>
          <p:cNvSpPr/>
          <p:nvPr/>
        </p:nvSpPr>
        <p:spPr>
          <a:xfrm>
            <a:off x="4498848" y="370332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5470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TAHAN / AUDIT RM   </a:t>
            </a:r>
            <a:r>
              <a:rPr lang="en-US" sz="1200" dirty="0">
                <a:solidFill>
                  <a:srgbClr val="B5470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bukti lengkap untuk verifikator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101584" y="3703320"/>
            <a:ext cx="3602736" cy="566928"/>
          </a:xfrm>
          <a:prstGeom prst="roundRect">
            <a:avLst>
              <a:gd name="adj" fmla="val 14516"/>
            </a:avLst>
          </a:prstGeom>
          <a:solidFill>
            <a:srgbClr val="FDECEA"/>
          </a:solidFill>
          <a:ln/>
        </p:spPr>
      </p:sp>
      <p:sp>
        <p:nvSpPr>
          <p:cNvPr id="33" name="Text 31"/>
          <p:cNvSpPr/>
          <p:nvPr/>
        </p:nvSpPr>
        <p:spPr>
          <a:xfrm>
            <a:off x="8321040" y="370332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2D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TOLAK + ESKALASI   </a:t>
            </a:r>
            <a:r>
              <a:rPr lang="en-US" sz="1200" dirty="0">
                <a:solidFill>
                  <a:srgbClr val="D92D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diteruskan ke Satgas Anti-Fraud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7200" y="4617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Tiga keunggulan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457200" y="495604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 menyeluruh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457200" y="5230368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Setiap klaim dibaca mesin, bukan sampel.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4279392" y="495604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tepat guna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279392" y="5230368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Aturan dan ML cepat serta dapat diaudit; LLM hanya untuk adjudikasi.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8101584" y="495604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Siap alur kerja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8101584" y="5230368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Verdict satu klik; klaim faskes masuk otomatis.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3 · TAMPILAN PRODUK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Antrean klaim: risiko terlihat, bukti satu klik</a:t>
            </a:r>
            <a:endParaRPr lang="en-US" sz="3000" dirty="0"/>
          </a:p>
        </p:txBody>
      </p:sp>
      <p:pic>
        <p:nvPicPr>
          <p:cNvPr id="4" name="Image 0" descr="D:/FamilyAgent/Nox/workspace/sikepo-app/proposal/assets/shot-claims.png">    </p:cNvPr>
          <p:cNvPicPr>
            <a:picLocks noChangeAspect="1"/>
          </p:cNvPicPr>
          <p:nvPr/>
        </p:nvPicPr>
        <p:blipFill>
          <a:blip r:embed="rId1"/>
          <a:srcRect l="0" r="0" t="5193" b="5193"/>
          <a:stretch/>
        </p:blipFill>
        <p:spPr>
          <a:xfrm>
            <a:off x="457200" y="1517904"/>
            <a:ext cx="7863840" cy="48920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613648" y="1517904"/>
            <a:ext cx="3118104" cy="4892040"/>
          </a:xfrm>
          <a:prstGeom prst="roundRect">
            <a:avLst>
              <a:gd name="adj" fmla="val 2933"/>
            </a:avLst>
          </a:prstGeom>
          <a:solidFill>
            <a:srgbClr val="F6F8FA"/>
          </a:solidFill>
          <a:ln/>
        </p:spPr>
      </p:sp>
      <p:sp>
        <p:nvSpPr>
          <p:cNvPr id="6" name="Text 3"/>
          <p:cNvSpPr/>
          <p:nvPr/>
        </p:nvSpPr>
        <p:spPr>
          <a:xfrm>
            <a:off x="8887968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Di layar ini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8887968" y="2121408"/>
            <a:ext cx="2615184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152400" indent="-152400">
              <a:lnSpc>
                <a:spcPct val="150000"/>
              </a:lnSpc>
              <a:spcAft>
                <a:spcPts val="1000"/>
              </a:spcAft>
              <a:buSzPct val="100000"/>
              <a:buChar char="▸"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150 klaim terurut; badge risiko hijau, kuning, merah (skor 0–100)</a:t>
            </a:r>
            <a:endParaRPr lang="en-US" sz="1150" dirty="0"/>
          </a:p>
          <a:p>
            <a:pPr algn="just" marL="152400" indent="-152400">
              <a:lnSpc>
                <a:spcPct val="150000"/>
              </a:lnSpc>
              <a:spcAft>
                <a:spcPts val="1000"/>
              </a:spcAft>
              <a:buSzPct val="100000"/>
              <a:buChar char="▸"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status, modus, faskes, rentang risiko, dan pencarian</a:t>
            </a:r>
            <a:endParaRPr lang="en-US" sz="1150" dirty="0"/>
          </a:p>
          <a:p>
            <a:pPr algn="just" marL="152400" indent="-152400">
              <a:lnSpc>
                <a:spcPct val="150000"/>
              </a:lnSpc>
              <a:spcAft>
                <a:spcPts val="1000"/>
              </a:spcAft>
              <a:buSzPct val="100000"/>
              <a:buChar char="▸"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Klik baris: inspector memuat bukti A1–A3, obat restriksi, dan selisih biaya</a:t>
            </a:r>
            <a:endParaRPr lang="en-US" sz="1150" dirty="0"/>
          </a:p>
          <a:p>
            <a:pPr algn="just" marL="152400" indent="-152400">
              <a:lnSpc>
                <a:spcPct val="150000"/>
              </a:lnSpc>
              <a:spcAft>
                <a:spcPts val="1000"/>
              </a:spcAft>
              <a:buSzPct val="100000"/>
              <a:buChar char="▸"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Verdict satu klik dengan jejak audit</a:t>
            </a:r>
            <a:endParaRPr lang="en-US" sz="1150" dirty="0"/>
          </a:p>
          <a:p>
            <a:pPr algn="just" marL="152400" indent="-152400">
              <a:lnSpc>
                <a:spcPct val="150000"/>
              </a:lnSpc>
              <a:spcAft>
                <a:spcPts val="1000"/>
              </a:spcAft>
              <a:buSzPct val="100000"/>
              <a:buChar char="▸"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Navigasi keyboard: j/k, Enter, a/h/r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3 · TAMPILAN PRODUK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Dashboard, sandbox, dan kanal faskes</a:t>
            </a:r>
            <a:endParaRPr lang="en-US" sz="3000" dirty="0"/>
          </a:p>
        </p:txBody>
      </p:sp>
      <p:pic>
        <p:nvPicPr>
          <p:cNvPr id="4" name="Image 0" descr="D:/FamilyAgent/Nox/workspace/sikepo-app/proposal/assets/shot-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554480"/>
            <a:ext cx="3602736" cy="25054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169664"/>
            <a:ext cx="3602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Dashboard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462272"/>
            <a:ext cx="3602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 live, tren status, distribusi risiko, dan intake SIMRS.</a:t>
            </a:r>
            <a:endParaRPr lang="en-US" sz="1150" dirty="0"/>
          </a:p>
        </p:txBody>
      </p:sp>
      <p:pic>
        <p:nvPicPr>
          <p:cNvPr id="7" name="Image 1" descr="D:/FamilyAgent/Nox/workspace/sikepo-app/proposal/assets/shot-sandbox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79392" y="1554480"/>
            <a:ext cx="3602736" cy="250545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279392" y="4169664"/>
            <a:ext cx="3602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Sandbox audit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4279392" y="4462272"/>
            <a:ext cx="3602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Uji klaim hipotesis: skor, alasan, dan jejak A1–A3.</a:t>
            </a:r>
            <a:endParaRPr lang="en-US" sz="1150" dirty="0"/>
          </a:p>
        </p:txBody>
      </p:sp>
      <p:pic>
        <p:nvPicPr>
          <p:cNvPr id="10" name="Image 2" descr="D:/FamilyAgent/Nox/workspace/sikepo-app/proposal/assets/shot-faske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01584" y="1554480"/>
            <a:ext cx="3602736" cy="250545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101584" y="4169664"/>
            <a:ext cx="3602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Portal Faskes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8101584" y="4462272"/>
            <a:ext cx="3602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Faskes mengirim klaim berkunci API; hasil audit tampil seketika.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457200" y="5486400"/>
            <a:ext cx="11274552" cy="658368"/>
          </a:xfrm>
          <a:prstGeom prst="roundRect">
            <a:avLst>
              <a:gd name="adj" fmla="val 12500"/>
            </a:avLst>
          </a:prstGeom>
          <a:solidFill>
            <a:srgbClr val="E9F7EF"/>
          </a:solidFill>
          <a:ln/>
        </p:spPr>
      </p:sp>
      <p:sp>
        <p:nvSpPr>
          <p:cNvPr id="14" name="Text 9"/>
          <p:cNvSpPr/>
          <p:nvPr/>
        </p:nvSpPr>
        <p:spPr>
          <a:xfrm>
            <a:off x="777240" y="5486400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76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Sinkron otomatis: </a:t>
            </a:r>
            <a:r>
              <a:rPr lang="en-US" sz="12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Klaim dari faskes muncul otomatis di antrean Cockpit dalam hitungan detik, disertai notifikasi.</a:t>
            </a:r>
            <a:endParaRPr lang="en-US" sz="1250" dirty="0"/>
          </a:p>
        </p:txBody>
      </p:sp>
      <p:sp>
        <p:nvSpPr>
          <p:cNvPr id="15" name="Text 10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4 · PENDEKATAN TEKNIS &amp; DATA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Dari input SIMRS sampai keputusan verifikator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1274552" cy="1243584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938528"/>
            <a:ext cx="475488" cy="475488"/>
          </a:xfrm>
          <a:prstGeom prst="ellipse">
            <a:avLst/>
          </a:prstGeom>
          <a:solidFill>
            <a:srgbClr val="175CD3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9385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81328" y="175564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5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 · INPUT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480560" y="17373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SEP, ICD-10, tarif INA-CBG, biaya, LOS, dan farmasi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55548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Sumber: API SIMRS berkunci, Portal Faskes, dan data uji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852160" y="272491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↓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971800"/>
            <a:ext cx="11274552" cy="1243584"/>
          </a:xfrm>
          <a:prstGeom prst="roundRect">
            <a:avLst>
              <a:gd name="adj" fmla="val 7353"/>
            </a:avLst>
          </a:prstGeom>
          <a:solidFill>
            <a:srgbClr val="F6F8FA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9808" y="3355848"/>
            <a:ext cx="475488" cy="475488"/>
          </a:xfrm>
          <a:prstGeom prst="ellipse">
            <a:avLst/>
          </a:prstGeom>
          <a:solidFill>
            <a:srgbClr val="B54708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3355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481328" y="317296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5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 · AUDIT PIPELINE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480560" y="31546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A1 aturan (risiko awal) → A2 IsolationForest (fusi 45:55) → A3 Ling 3.0 Flash Sante, dengan fallback aturan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555480" y="31546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Setiap tahap menghasilkan bukti yang tersimpan per klaim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852160" y="41422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↓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4389120"/>
            <a:ext cx="11274552" cy="1243584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9808" y="4773168"/>
            <a:ext cx="475488" cy="475488"/>
          </a:xfrm>
          <a:prstGeom prst="ellipse">
            <a:avLst/>
          </a:prstGeom>
          <a:solidFill>
            <a:srgbClr val="009B4C"/>
          </a:solidFill>
          <a:ln/>
        </p:spPr>
      </p:sp>
      <p:sp>
        <p:nvSpPr>
          <p:cNvPr id="20" name="Text 18"/>
          <p:cNvSpPr/>
          <p:nvPr/>
        </p:nvSpPr>
        <p:spPr>
          <a:xfrm>
            <a:off x="749808" y="47731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481328" y="459028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5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 · KEPUTUSAN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480560" y="45720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Rekomendasi status, antrean Cockpit, dan verdict berjejak audit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555480" y="457200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Label verdict menjadi data latih pelatihan ulang berkala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5870448"/>
            <a:ext cx="11274552" cy="566928"/>
          </a:xfrm>
          <a:prstGeom prst="roundRect">
            <a:avLst>
              <a:gd name="adj" fmla="val 14516"/>
            </a:avLst>
          </a:prstGeom>
          <a:solidFill>
            <a:srgbClr val="F6F8FA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587044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Keamanan sejak desain:  </a:t>
            </a: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kunci API per faskes · kata sandi PBKDF2 · RBAC 4 peran · rate limit · jejak audit · data uji sintetis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5 · TINGKAT KEMATANGAN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Prototype berfungsi penuh, teruji end-to-end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084832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600200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291A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Ide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542032" y="1700784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70632" y="1600200"/>
            <a:ext cx="2084832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70632" y="1600200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291A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Mockup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855464" y="1700784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84064" y="1600200"/>
            <a:ext cx="2084832" cy="566928"/>
          </a:xfrm>
          <a:prstGeom prst="roundRect">
            <a:avLst>
              <a:gd name="adj" fmla="val 14516"/>
            </a:avLst>
          </a:prstGeom>
          <a:solidFill>
            <a:srgbClr val="009B4C"/>
          </a:solidFill>
          <a:ln w="12700">
            <a:solidFill>
              <a:srgbClr val="009B4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84064" y="1600200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Prototype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168896" y="1700784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97496" y="1600200"/>
            <a:ext cx="2084832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7496" y="1600200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291A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MVP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482328" y="1700784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710928" y="1600200"/>
            <a:ext cx="2084832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10928" y="1600200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291A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Produk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239572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Posisi saat ini: prototype fitur lengkap, dengan jalur jelas menuju MVP melalui pilot shadow di satu KC.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2871216"/>
            <a:ext cx="3602736" cy="3127248"/>
          </a:xfrm>
          <a:prstGeom prst="roundRect">
            <a:avLst>
              <a:gd name="adj" fmla="val 2924"/>
            </a:avLst>
          </a:prstGeom>
          <a:solidFill>
            <a:srgbClr val="FFFFFF"/>
          </a:solidFill>
          <a:ln w="12700">
            <a:solidFill>
              <a:srgbClr val="C9E9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4944" y="307238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Yang sudah berjalan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94944" y="3401568"/>
            <a:ext cx="3154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Antrean, inspector, dan verdict berjejak audit</a:t>
            </a:r>
            <a:endParaRPr lang="en-US" sz="110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A1–A3 dengan fallback deterministik</a:t>
            </a:r>
            <a:endParaRPr lang="en-US" sz="110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Portal faskes dan sinkronisasi otomatis</a:t>
            </a:r>
            <a:endParaRPr lang="en-US" sz="110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Sandbox, tren data, dan manajemen pengguna</a:t>
            </a:r>
            <a:endParaRPr lang="en-US" sz="110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Pelatihan ulang ML dari label verdict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279392" y="2871216"/>
            <a:ext cx="3602736" cy="3127248"/>
          </a:xfrm>
          <a:prstGeom prst="roundRect">
            <a:avLst>
              <a:gd name="adj" fmla="val 2924"/>
            </a:avLst>
          </a:prstGeom>
          <a:solidFill>
            <a:srgbClr val="E9F7EF"/>
          </a:solidFill>
          <a:ln w="12700">
            <a:solidFill>
              <a:srgbClr val="C9E9D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17136" y="307238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Yang sudah diuji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517136" y="3401568"/>
            <a:ext cx="3154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Alur ujung ke ujung: ingest, audit, hingga verdict tersimpan</a:t>
            </a:r>
            <a:endParaRPr lang="en-US" sz="110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150 klaim teraudit otomatis (89 bersih, 61 anomali)</a:t>
            </a:r>
            <a:endParaRPr lang="en-US" sz="110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Idempotensi SEP: kiriman ganda ditolak</a:t>
            </a:r>
            <a:endParaRPr lang="en-US" sz="110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Pembatasan laju login dan kunci API teruji</a:t>
            </a:r>
            <a:endParaRPr lang="en-US" sz="110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Tampilan teruji pada lebar 390 hingga 1440 piksel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101584" y="2871216"/>
            <a:ext cx="3602736" cy="3127248"/>
          </a:xfrm>
          <a:prstGeom prst="roundRect">
            <a:avLst>
              <a:gd name="adj" fmla="val 2924"/>
            </a:avLst>
          </a:prstGeom>
          <a:solidFill>
            <a:srgbClr val="F6F8FA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39328" y="307238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291A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Yang belum (jujur)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8339328" y="3401568"/>
            <a:ext cx="3154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Belum terhubung dengan data produksi</a:t>
            </a:r>
            <a:endParaRPr lang="en-US" sz="110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Belum ada uji lapangan bersama verifikator</a:t>
            </a:r>
            <a:endParaRPr lang="en-US" sz="110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Presisi dan recall terukur setelah pilot</a:t>
            </a:r>
            <a:endParaRPr lang="en-US" sz="110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masuk rencana fase berikutnya</a:t>
            </a:r>
            <a:endParaRPr lang="en-US" sz="110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Belum diterapkan pada infrastruktur resmi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6 · RENCANA &amp; KELAYAKAN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Empat fase menuju siap implementasi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2679192" cy="3931920"/>
          </a:xfrm>
          <a:prstGeom prst="roundRect">
            <a:avLst>
              <a:gd name="adj" fmla="val 3413"/>
            </a:avLst>
          </a:prstGeom>
          <a:solidFill>
            <a:srgbClr val="0B1526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76656" y="182880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5D08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Minggu 1-4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76656" y="210312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Fondasi produksi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676656" y="274320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dan Docker</a:t>
            </a:r>
            <a:endParaRPr lang="en-US" sz="105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Seluruh API dipindah ke database</a:t>
            </a:r>
            <a:endParaRPr lang="en-US" sz="105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Penguatan keamanan dan pencadangan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76656" y="4892040"/>
            <a:ext cx="2240280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49834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45000"/>
              </a:lnSpc>
              <a:buNone/>
            </a:pPr>
            <a:r>
              <a:rPr lang="en-US" sz="1000" i="1" dirty="0">
                <a:solidFill>
                  <a:srgbClr val="6480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Hasil: versi siap produksi internal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13639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319272" y="1627632"/>
            <a:ext cx="2679192" cy="3931920"/>
          </a:xfrm>
          <a:prstGeom prst="roundRect">
            <a:avLst>
              <a:gd name="adj" fmla="val 3413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38728" y="182880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9B4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Minggu 5-12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538728" y="210312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5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Pilot shadow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3538728" y="274320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 bayangan di satu KC</a:t>
            </a:r>
            <a:endParaRPr lang="en-US" sz="105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Verifikator tetap memutuskan manual</a:t>
            </a:r>
            <a:endParaRPr lang="en-US" sz="105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Mengukur presisi dan recall per modus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538728" y="4892040"/>
            <a:ext cx="2240280" cy="0"/>
          </a:xfrm>
          <a:prstGeom prst="line">
            <a:avLst/>
          </a:prstGeom>
          <a:noFill/>
          <a:ln w="12700">
            <a:solidFill>
              <a:srgbClr val="ECEE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38728" y="49834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45000"/>
              </a:lnSpc>
              <a:buNone/>
            </a:pPr>
            <a:r>
              <a:rPr lang="en-US" sz="1000" i="1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Hasil: laporan evaluasi empat pekan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98464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181344" y="1627632"/>
            <a:ext cx="2679192" cy="3931920"/>
          </a:xfrm>
          <a:prstGeom prst="roundRect">
            <a:avLst>
              <a:gd name="adj" fmla="val 3413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00800" y="182880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9B4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Bulan 4-6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0" y="210312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5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Go-live bertahap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6400800" y="274320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Klaim hijau lanjut otomatis di satu KC</a:t>
            </a:r>
            <a:endParaRPr lang="en-US" sz="105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SOP dan pelatihan verifikator</a:t>
            </a:r>
            <a:endParaRPr lang="en-US" sz="105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Rencana mundur di bawah 15 menit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0" y="4892040"/>
            <a:ext cx="2240280" cy="0"/>
          </a:xfrm>
          <a:prstGeom prst="line">
            <a:avLst/>
          </a:prstGeom>
          <a:noFill/>
          <a:ln w="12700">
            <a:solidFill>
              <a:srgbClr val="ECEE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0" y="49834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45000"/>
              </a:lnSpc>
              <a:buNone/>
            </a:pPr>
            <a:r>
              <a:rPr lang="en-US" sz="1000" i="1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Hasil: satu KC beroperasi dengan SiKePo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860536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043416" y="1627632"/>
            <a:ext cx="2679192" cy="3931920"/>
          </a:xfrm>
          <a:prstGeom prst="roundRect">
            <a:avLst>
              <a:gd name="adj" fmla="val 3413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262872" y="182880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9B4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Bulan 7+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262872" y="210312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5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Skala &amp; mitra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9262872" y="274320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Perluasan KC dan onboarding SIMRS</a:t>
            </a:r>
            <a:endParaRPr lang="en-US" sz="105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Dasbor analitik nasional</a:t>
            </a:r>
            <a:endParaRPr lang="en-US" sz="1050" dirty="0"/>
          </a:p>
          <a:p>
            <a:pPr algn="just" marL="152400" indent="-152400">
              <a:lnSpc>
                <a:spcPct val="150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Kerja sama data resmi BPJS Kesehatan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9262872" y="4892040"/>
            <a:ext cx="2240280" cy="0"/>
          </a:xfrm>
          <a:prstGeom prst="line">
            <a:avLst/>
          </a:prstGeom>
          <a:noFill/>
          <a:ln w="12700">
            <a:solidFill>
              <a:srgbClr val="ECEEF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262872" y="49834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45000"/>
              </a:lnSpc>
              <a:buNone/>
            </a:pPr>
            <a:r>
              <a:rPr lang="en-US" sz="1000" i="1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Hasil: laporan dampak triwulanan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5870448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Kebutuhan utama: satu KC mitra untuk pilot shadow, dengan akses data uji terbatas berizin.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7 · DAMPAK &amp; NILAI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Sebelum vs sesudah SiKePo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206240"/>
                <a:gridCol w="432511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Aspek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5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Tanpa SiKePo (manual)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5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Dengan SiKePo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B4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Cakupan pemeriksaan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Hanya sampel berkas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Seluruh klaim dibaca mesin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Waktu penilaian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Belasan menit atau lebih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Kurang dari 2 detik (terukur)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Dasar keputusan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Bervariasi antarpemeriksa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Skor 0–100 dan alasan yang konsisten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Jejak audit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Catatan manual dan tersebar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Tersimpan otomatis per verdict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Deteksi pola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Bergantung pengalaman individu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Model dilatih ulang dari verdict terbaru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892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Nilai per pemangku kepentingan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457200" y="5230368"/>
            <a:ext cx="3602736" cy="896112"/>
          </a:xfrm>
          <a:prstGeom prst="roundRect">
            <a:avLst>
              <a:gd name="adj" fmla="val 9184"/>
            </a:avLst>
          </a:prstGeom>
          <a:solidFill>
            <a:srgbClr val="F6F8FA"/>
          </a:solidFill>
          <a:ln/>
        </p:spPr>
      </p:sp>
      <p:sp>
        <p:nvSpPr>
          <p:cNvPr id="7" name="Text 4"/>
          <p:cNvSpPr/>
          <p:nvPr/>
        </p:nvSpPr>
        <p:spPr>
          <a:xfrm>
            <a:off x="676656" y="535838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Peserta JKN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76656" y="56052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Iuran terjaga dari kebocoran dana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279392" y="5230368"/>
            <a:ext cx="3602736" cy="896112"/>
          </a:xfrm>
          <a:prstGeom prst="roundRect">
            <a:avLst>
              <a:gd name="adj" fmla="val 9184"/>
            </a:avLst>
          </a:prstGeom>
          <a:solidFill>
            <a:srgbClr val="F6F8FA"/>
          </a:solidFill>
          <a:ln/>
        </p:spPr>
      </p:sp>
      <p:sp>
        <p:nvSpPr>
          <p:cNvPr id="10" name="Text 7"/>
          <p:cNvSpPr/>
          <p:nvPr/>
        </p:nvSpPr>
        <p:spPr>
          <a:xfrm>
            <a:off x="4498848" y="535838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Faskes jujur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498848" y="56052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Klaim bersih cair lebih cepat dan bukti objektif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101584" y="5230368"/>
            <a:ext cx="3602736" cy="896112"/>
          </a:xfrm>
          <a:prstGeom prst="roundRect">
            <a:avLst>
              <a:gd name="adj" fmla="val 9184"/>
            </a:avLst>
          </a:prstGeom>
          <a:solidFill>
            <a:srgbClr val="F6F8FA"/>
          </a:solidFill>
          <a:ln/>
        </p:spPr>
      </p:sp>
      <p:sp>
        <p:nvSpPr>
          <p:cNvPr id="13" name="Text 10"/>
          <p:cNvSpPr/>
          <p:nvPr/>
        </p:nvSpPr>
        <p:spPr>
          <a:xfrm>
            <a:off x="8321040" y="535838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BPJS Kesehatan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321040" y="56052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Efisiensi risiko terukur tiap triwulan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57200" y="6355080"/>
            <a:ext cx="11247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Catatan: dampak diukur pada demo internal (150 klaim); angka lapangan divalidasi saat pilot. Waktu kurang dari 2 detik diukur dari latensi endpoint audit.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8 · RISIKO, PRIVASI &amp; ETIKA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AI mendukung keputusan, tidak menggantikan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72768"/>
            <a:ext cx="5504688" cy="2048256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13232" y="175564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DB2C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Perlindungan data (UU PDP)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13232" y="2084832"/>
            <a:ext cx="50109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9DB2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Memakai 150 klaim sintetis, tanpa data peserta riil. Kata sandi berhash PBKDF2, RBAC empat peran, dan jejak audit per keputusan. Produksi: minimasi data pribadi dan enkripsi.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227064" y="1572768"/>
            <a:ext cx="5504688" cy="2048256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83096" y="175564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A556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Bias &amp; keterbatasan AI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483096" y="2084832"/>
            <a:ext cx="50109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dapat keliru pada kasus langka. Mitigasi: skor merupakan gabungan aturan dan ML, ambang konservatif, pelatihan ulang berkala, serta alasan yang terbuka untuk dibantah.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3785616"/>
            <a:ext cx="5504688" cy="2048256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13232" y="39684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A556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Human-in-the-loop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13232" y="4297680"/>
            <a:ext cx="50109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Mesin hanya memberi rekomendasi. Klaim berisiko wajib melewati verifikator dan eskalasi Satgas Anti-Fraud; setiap perubahan keputusan tercatat.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27064" y="3785616"/>
            <a:ext cx="5504688" cy="2048256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83096" y="39684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A556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Mitigasi risiko utama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83096" y="4297680"/>
            <a:ext cx="50109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1) LLM gagal: fallback aturan menjaga layanan. 2) Kunci API bocor: rotasi per faskes dan rate limit. 3) Faskes jujur tertolak: ambang konservatif dan evaluasi pilot.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6108192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Prinsip: transparan tentang keterbatasan, tidak memakai data peserta JKN riil tanpa izin resmi, dan setiap klaim tetap dapat dibantah manusia.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9 · PROFIL &amp; PENGALAMAN TIM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Satu orang, seluruh lini produk</a:t>
            </a:r>
            <a:endParaRPr lang="en-US" sz="3000" dirty="0"/>
          </a:p>
        </p:txBody>
      </p:sp>
      <p:pic>
        <p:nvPicPr>
          <p:cNvPr id="4" name="Image 0" descr="D:/FamilyAgent/Nox/workspace/sikepo-app/proposal/assets/deck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554480"/>
            <a:ext cx="2834640" cy="35433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5230368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B1526"/>
          </a:solidFill>
          <a:ln/>
        </p:spPr>
      </p:sp>
      <p:sp>
        <p:nvSpPr>
          <p:cNvPr id="6" name="Text 3"/>
          <p:cNvSpPr/>
          <p:nvPr/>
        </p:nvSpPr>
        <p:spPr>
          <a:xfrm>
            <a:off x="713232" y="5358384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Decka Fadhila Tirta
</a:t>
            </a:r>
            <a:r>
              <a:rPr lang="en-US" sz="1000" dirty="0">
                <a:solidFill>
                  <a:srgbClr val="9DB2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deckafadhila@gmail.com · dktirta.tech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703320" y="157276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Decka Fadhila Tirta, S.Si.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3703320" y="199339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9B4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Lead Engineer dan Product · S.Si. Fisika, Universitas Negeri Yogyakarta (2026)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3703320" y="239572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Membangun SiKePo dari nol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3703320" y="265176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Backend FastAPI, pipeline AI (aturan, IsolationForest, LLM), dan frontend vanilla JS yang ringan.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3703320" y="3236976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&amp; riset kuantitatif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3703320" y="349300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Analisis banjir Kabupaten Kudus dengan Python pada 10.000+ titik data; asisten lab Fisika Komputasi dan Sistem Digital UNY.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3703320" y="4078224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otomasi kerja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3703320" y="4334256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Praktik riset berbantuan AI dan agent workflow yang dipakai langsung pada pipeline adjudikasi.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3703320" y="4919472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Riset teknologi &amp; ekosistem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703320" y="5175504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Evaluasi 300+ proyek Web3; magang BPBD Kabupaten Kudus untuk pemetaan risiko bencana.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3703320" y="5806440"/>
            <a:ext cx="7955280" cy="566928"/>
          </a:xfrm>
          <a:prstGeom prst="roundRect">
            <a:avLst>
              <a:gd name="adj" fmla="val 14516"/>
            </a:avLst>
          </a:prstGeom>
          <a:solidFill>
            <a:srgbClr val="E9F7EF"/>
          </a:solidFill>
          <a:ln/>
        </p:spPr>
      </p:sp>
      <p:sp>
        <p:nvSpPr>
          <p:cNvPr id="18" name="Text 15"/>
          <p:cNvSpPr/>
          <p:nvPr/>
        </p:nvSpPr>
        <p:spPr>
          <a:xfrm>
            <a:off x="3977640" y="580644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150" b="1" dirty="0">
                <a:solidFill>
                  <a:srgbClr val="0676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Mengapa mampu eksekusi:  </a:t>
            </a: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satu orang menguasai data, AI, backend, dan antarmuka, sehingga iterasi cepat tanpa koordinasi lintas tim.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DAFTAR SINGKATAN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Istilah dan singkatan yang dipakai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27632"/>
          <a:ext cx="53949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160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JKN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Jaminan Kesehatan Nasional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BPJS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Badan Penyelenggara Jaminan Sosial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INA-CBG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Indonesian Case Based Groups (tarif paket klaim)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SEP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Surat Eligibilitas Peserta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ICD-10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Klasifikasi Penyakit Internasional edisi 10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LOS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Length of Stay (lama rawat)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e-Fornas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Formularium Nasional elektronik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FKRTL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Fasilitas Kesehatan Rujukan Tingkat Lanjut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27632"/>
          <a:ext cx="53949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160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FKTP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Fasilitas Kesehatan Tingkat Pertama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SIMRS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Sistem Informasi Manajemen Rumah Sakit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ML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Machine Learning (pembelajaran mesin)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LLM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Large Language Model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API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Application Programming Interface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RBAC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Role-Based Access Control (hak akses per peran)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UU PDP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Undang-Undang Pelindungan Data Pribadi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1526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KC/PC</a:t>
                      </a:r>
                      <a:endParaRPr lang="en-US" sz="10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Kantor Cabang / Kantor Cabang Pembantu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603504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A1, A2, A3 adalah tiga agen audit SiKePo: aturan deterministik, machine learning, dan adjudikasi LLM.</a:t>
            </a:r>
            <a:endParaRPr lang="en-US" sz="1050" dirty="0"/>
          </a:p>
        </p:txBody>
      </p:sp>
      <p:sp>
        <p:nvSpPr>
          <p:cNvPr id="7" name="Text 3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5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FamilyAgent/Nox/workspace/sikepo-app/frontend/img/sikepo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777240" cy="63093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96596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Detect Smarter.</a:t>
            </a:r>
            <a:endParaRPr lang="en-US" sz="5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Protect JKN.</a:t>
            </a:r>
            <a:endParaRPr lang="en-US" sz="5400" dirty="0"/>
          </a:p>
        </p:txBody>
      </p:sp>
      <p:sp>
        <p:nvSpPr>
          <p:cNvPr id="4" name="Text 1"/>
          <p:cNvSpPr/>
          <p:nvPr/>
        </p:nvSpPr>
        <p:spPr>
          <a:xfrm>
            <a:off x="457200" y="41605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5D0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</a:t>
            </a:r>
            <a:r>
              <a:rPr lang="en-US" sz="140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Sistem Investigasi Kelayakan Klaim &amp; Pola Overbilling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457200" y="4709160"/>
            <a:ext cx="5852160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489204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live tersedia
</a:t>
            </a:r>
            <a:r>
              <a:rPr lang="en-US" sz="115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Cockpit, Portal Faskes, dan panduan integrasi dapat dicoba langsung pada sesi presentasi.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949440" y="489204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Coba Namanya Ini · Decka Fadhila Tirta
</a:t>
            </a:r>
            <a:r>
              <a:rPr lang="en-US" sz="1150" dirty="0">
                <a:solidFill>
                  <a:srgbClr val="9DB2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deckafadhila@gmail.com · dktirta.tech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60533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80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Disclaimer: seluruh angka dan data yang ditampilkan berasal dari dataset demo sintetis, bukan data operasional BPJS Kesehatan.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45720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80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Healthkathon BPJS Kesehatan 2026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SiKePo Proposal Healthkathon 2026</dc:title>
  <dc:subject>PptxGenJS Presentation</dc:subject>
  <dc:creator>Coba Namanya Ini</dc:creator>
  <cp:lastModifiedBy>Coba Namanya Ini</cp:lastModifiedBy>
  <cp:revision>1</cp:revision>
  <dcterms:created xsi:type="dcterms:W3CDTF">2026-09-12T07:03:45Z</dcterms:created>
  <dcterms:modified xsi:type="dcterms:W3CDTF">2026-09-12T07:03:45Z</dcterms:modified>
</cp:coreProperties>
</file>